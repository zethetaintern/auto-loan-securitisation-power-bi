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Outstanding (₹ M)</c:v>
                </c:pt>
              </c:strCache>
            </c:strRef>
          </c:tx>
          <c:spPr>
            <a:solidFill>
              <a:srgbClr val="0B1F3A"/>
            </a:solidFill>
            <a:effectLst/>
          </c:spPr>
          <c:invertIfNegative val="0"/>
          <c:dLbls>
            <c:numFmt formatCode="0.0" sourceLinked="0"/>
            <c:txPr>
              <a:bodyPr/>
              <a:lstStyle/>
              <a:p>
                <a:pPr>
                  <a:defRPr b="0" i="0" strike="noStrike" sz="1000" u="none">
                    <a:solidFill>
                      <a:srgbClr val="0B1F3A"/>
                    </a:solidFill>
                    <a:latin typeface="Calibri"/>
                  </a:defRPr>
                </a:pPr>
              </a:p>
            </c:txPr>
            <c:showLegendKey val="0"/>
            <c:showVal val="1"/>
            <c:showCatName val="0"/>
            <c:showSerName val="0"/>
            <c:showPercent val="0"/>
            <c:showBubbleSize val="0"/>
            <c:showLeaderLines val="0"/>
          </c:dLbls>
          <c:dPt>
            <c:idx val="0"/>
            <c:invertIfNegative val="0"/>
            <c:bubble3D val="0"/>
            <c:spPr>
              <a:solidFill>
                <a:srgbClr val="0B1F3A"/>
              </a:solidFill>
              <a:effectLst/>
            </c:spPr>
          </c:dPt>
          <c:dPt>
            <c:idx val="1"/>
            <c:invertIfNegative val="0"/>
            <c:bubble3D val="0"/>
            <c:spPr>
              <a:solidFill>
                <a:srgbClr val="1F5FBF"/>
              </a:solidFill>
              <a:effectLst/>
            </c:spPr>
          </c:dPt>
          <c:dPt>
            <c:idx val="2"/>
            <c:invertIfNegative val="0"/>
            <c:bubble3D val="0"/>
            <c:spPr>
              <a:solidFill>
                <a:srgbClr val="118DFF"/>
              </a:solidFill>
              <a:effectLst/>
            </c:spPr>
          </c:dPt>
          <c:dPt>
            <c:idx val="3"/>
            <c:invertIfNegative val="0"/>
            <c:bubble3D val="0"/>
            <c:spPr>
              <a:solidFill>
                <a:srgbClr val="7FB8F0"/>
              </a:solidFill>
              <a:effectLst/>
            </c:spPr>
          </c:dPt>
          <c:dPt>
            <c:idx val="4"/>
            <c:invertIfNegative val="0"/>
            <c:bubble3D val="0"/>
            <c:spPr>
              <a:solidFill>
                <a:srgbClr val="BBD3F0"/>
              </a:solidFill>
              <a:effectLst/>
            </c:spPr>
          </c:dPt>
          <c:cat>
            <c:multiLvlStrRef>
              <c:f>Sheet1!$A$2:$A$6</c:f>
              <c:multiLvlStrCache>
                <c:ptCount val="5"/>
                <c:lvl>
                  <c:pt idx="0">
                    <c:v>SUV</c:v>
                  </c:pt>
                  <c:pt idx="1">
                    <c:v>MUV</c:v>
                  </c:pt>
                  <c:pt idx="2">
                    <c:v>Compact SUV</c:v>
                  </c:pt>
                  <c:pt idx="3">
                    <c:v>Sedan</c:v>
                  </c:pt>
                  <c:pt idx="4">
                    <c:v>Hatchback</c:v>
                  </c:pt>
                </c:lvl>
              </c:multiLvlStrCache>
            </c:multiLvlStrRef>
          </c:cat>
          <c:val>
            <c:numRef>
              <c:f>Sheet1!$B$2:$B$6</c:f>
              <c:numCache>
                <c:formatCode>General</c:formatCode>
                <c:ptCount val="5"/>
                <c:pt idx="0">
                  <c:v>95.31</c:v>
                </c:pt>
                <c:pt idx="1">
                  <c:v>82.45</c:v>
                </c:pt>
                <c:pt idx="2">
                  <c:v>58.05</c:v>
                </c:pt>
                <c:pt idx="3">
                  <c:v>54.69</c:v>
                </c:pt>
                <c:pt idx="4">
                  <c:v>27.28</c:v>
                </c:pt>
              </c:numCache>
            </c:numRef>
          </c:val>
        </c:ser>
        <c:dLbls>
          <c:numFmt formatCode="0.0" sourceLinked="0"/>
          <c:txPr>
            <a:bodyPr/>
            <a:lstStyle/>
            <a:p>
              <a:pPr>
                <a:defRPr b="0" i="0" strike="noStrike" sz="1000" u="none">
                  <a:solidFill>
                    <a:srgbClr val="0B1F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0B1F3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pool</c:v>
                </c:pt>
              </c:strCache>
            </c:strRef>
          </c:tx>
          <c:spPr>
            <a:solidFill>
              <a:srgbClr val="7FB8F0"/>
            </a:solidFill>
            <a:effectLst/>
          </c:spPr>
          <c:invertIfNegative val="0"/>
          <c:dLbls>
            <c:numFmt formatCode="0.0&quot;%&quot;" sourceLinked="0"/>
            <c:txPr>
              <a:bodyPr/>
              <a:lstStyle/>
              <a:p>
                <a:pPr>
                  <a:defRPr b="0" i="0" strike="noStrike" sz="1000" u="none">
                    <a:solidFill>
                      <a:srgbClr val="0B1F3A"/>
                    </a:solidFill>
                    <a:latin typeface="Calibri"/>
                  </a:defRPr>
                </a:pPr>
              </a:p>
            </c:txPr>
            <c:showLegendKey val="0"/>
            <c:showVal val="1"/>
            <c:showCatName val="0"/>
            <c:showSerName val="0"/>
            <c:showPercent val="0"/>
            <c:showBubbleSize val="0"/>
            <c:showLeaderLines val="0"/>
          </c:dLbls>
          <c:dPt>
            <c:idx val="0"/>
            <c:invertIfNegative val="0"/>
            <c:bubble3D val="0"/>
            <c:spPr>
              <a:solidFill>
                <a:srgbClr val="7FB8F0"/>
              </a:solidFill>
              <a:effectLst/>
            </c:spPr>
          </c:dPt>
          <c:dPt>
            <c:idx val="1"/>
            <c:invertIfNegative val="0"/>
            <c:bubble3D val="0"/>
            <c:spPr>
              <a:solidFill>
                <a:srgbClr val="118DFF"/>
              </a:solidFill>
              <a:effectLst/>
            </c:spPr>
          </c:dPt>
          <c:dPt>
            <c:idx val="2"/>
            <c:invertIfNegative val="0"/>
            <c:bubble3D val="0"/>
            <c:spPr>
              <a:solidFill>
                <a:srgbClr val="118DFF"/>
              </a:solidFill>
              <a:effectLst/>
            </c:spPr>
          </c:dPt>
          <c:dPt>
            <c:idx val="3"/>
            <c:invertIfNegative val="0"/>
            <c:bubble3D val="0"/>
            <c:spPr>
              <a:solidFill>
                <a:srgbClr val="1F5FBF"/>
              </a:solidFill>
              <a:effectLst/>
            </c:spPr>
          </c:dPt>
          <c:dPt>
            <c:idx val="4"/>
            <c:invertIfNegative val="0"/>
            <c:bubble3D val="0"/>
            <c:spPr>
              <a:solidFill>
                <a:srgbClr val="0B1F3A"/>
              </a:solidFill>
              <a:effectLst/>
            </c:spPr>
          </c:dPt>
          <c:dPt>
            <c:idx val="5"/>
            <c:invertIfNegative val="0"/>
            <c:bubble3D val="0"/>
            <c:spPr>
              <a:solidFill>
                <a:srgbClr val="0B1F3A"/>
              </a:solidFill>
              <a:effectLst/>
            </c:spPr>
          </c:dPt>
          <c:dPt>
            <c:idx val="6"/>
            <c:invertIfNegative val="0"/>
            <c:bubble3D val="0"/>
            <c:spPr>
              <a:solidFill>
                <a:srgbClr val="0B1F3A"/>
              </a:solidFill>
              <a:effectLst/>
            </c:spPr>
          </c:dPt>
          <c:cat>
            <c:multiLvlStrRef>
              <c:f>Sheet1!$A$2:$A$8</c:f>
              <c:multiLvlStrCache>
                <c:ptCount val="7"/>
                <c:lvl>
                  <c:pt idx="0">
                    <c:v>1-29</c:v>
                  </c:pt>
                  <c:pt idx="1">
                    <c:v>30-59</c:v>
                  </c:pt>
                  <c:pt idx="2">
                    <c:v>60-89</c:v>
                  </c:pt>
                  <c:pt idx="3">
                    <c:v>90-119</c:v>
                  </c:pt>
                  <c:pt idx="4">
                    <c:v>120+</c:v>
                  </c:pt>
                  <c:pt idx="5">
                    <c:v>Default</c:v>
                  </c:pt>
                  <c:pt idx="6">
                    <c:v>Repo.</c:v>
                  </c:pt>
                </c:lvl>
              </c:multiLvlStrCache>
            </c:multiLvlStrRef>
          </c:cat>
          <c:val>
            <c:numRef>
              <c:f>Sheet1!$B$2:$B$8</c:f>
              <c:numCache>
                <c:formatCode>General</c:formatCode>
                <c:ptCount val="7"/>
                <c:pt idx="0">
                  <c:v>6.5</c:v>
                </c:pt>
                <c:pt idx="1">
                  <c:v>3.5</c:v>
                </c:pt>
                <c:pt idx="2">
                  <c:v>5</c:v>
                </c:pt>
                <c:pt idx="3">
                  <c:v>1.5</c:v>
                </c:pt>
                <c:pt idx="4">
                  <c:v>1.9</c:v>
                </c:pt>
                <c:pt idx="5">
                  <c:v>1.3</c:v>
                </c:pt>
                <c:pt idx="6">
                  <c:v>0.8</c:v>
                </c:pt>
              </c:numCache>
            </c:numRef>
          </c:val>
        </c:ser>
        <c:dLbls>
          <c:numFmt formatCode="0.0&quot;%&quot;" sourceLinked="0"/>
          <c:txPr>
            <a:bodyPr/>
            <a:lstStyle/>
            <a:p>
              <a:pPr>
                <a:defRPr b="0" i="0" strike="noStrike" sz="1000" u="none">
                  <a:solidFill>
                    <a:srgbClr val="0B1F3A"/>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F3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M</c:v>
                </c:pt>
              </c:strCache>
            </c:strRef>
          </c:tx>
          <c:spPr>
            <a:solidFill>
              <a:srgbClr val="0B1F3A"/>
            </a:solidFill>
            <a:effectLst/>
          </c:spPr>
          <c:invertIfNegative val="0"/>
          <c:dLbls>
            <c:numFmt formatCode="0.00" sourceLinked="0"/>
            <c:txPr>
              <a:bodyPr/>
              <a:lstStyle/>
              <a:p>
                <a:pPr>
                  <a:defRPr b="0" i="0" strike="noStrike" sz="1050" u="none">
                    <a:solidFill>
                      <a:srgbClr val="0B1F3A"/>
                    </a:solidFill>
                    <a:latin typeface="Calibri"/>
                  </a:defRPr>
                </a:pPr>
              </a:p>
            </c:txPr>
            <c:showLegendKey val="0"/>
            <c:showVal val="1"/>
            <c:showCatName val="0"/>
            <c:showSerName val="0"/>
            <c:showPercent val="0"/>
            <c:showBubbleSize val="0"/>
            <c:showLeaderLines val="0"/>
          </c:dLbls>
          <c:dPt>
            <c:idx val="0"/>
            <c:invertIfNegative val="0"/>
            <c:bubble3D val="0"/>
            <c:spPr>
              <a:solidFill>
                <a:srgbClr val="0B1F3A"/>
              </a:solidFill>
              <a:effectLst/>
            </c:spPr>
          </c:dPt>
          <c:dPt>
            <c:idx val="1"/>
            <c:invertIfNegative val="0"/>
            <c:bubble3D val="0"/>
            <c:spPr>
              <a:solidFill>
                <a:srgbClr val="118DFF"/>
              </a:solidFill>
              <a:effectLst/>
            </c:spPr>
          </c:dPt>
          <c:dPt>
            <c:idx val="2"/>
            <c:invertIfNegative val="0"/>
            <c:bubble3D val="0"/>
            <c:spPr>
              <a:solidFill>
                <a:srgbClr val="F2C811"/>
              </a:solidFill>
              <a:effectLst/>
            </c:spPr>
          </c:dPt>
          <c:cat>
            <c:multiLvlStrRef>
              <c:f>Sheet1!$A$2:$A$4</c:f>
              <c:multiLvlStrCache>
                <c:ptCount val="3"/>
                <c:lvl>
                  <c:pt idx="0">
                    <c:v>Stage 1 · 422 loans</c:v>
                  </c:pt>
                  <c:pt idx="1">
                    <c:v>Stage 2 · 45 loans</c:v>
                  </c:pt>
                  <c:pt idx="2">
                    <c:v>Stage 3 · 33 loans</c:v>
                  </c:pt>
                </c:lvl>
              </c:multiLvlStrCache>
            </c:multiLvlStrRef>
          </c:cat>
          <c:val>
            <c:numRef>
              <c:f>Sheet1!$B$2:$B$4</c:f>
              <c:numCache>
                <c:formatCode>General</c:formatCode>
                <c:ptCount val="3"/>
                <c:pt idx="0">
                  <c:v>272.93</c:v>
                </c:pt>
                <c:pt idx="1">
                  <c:v>27.15</c:v>
                </c:pt>
                <c:pt idx="2">
                  <c:v>17.7</c:v>
                </c:pt>
              </c:numCache>
            </c:numRef>
          </c:val>
        </c:ser>
        <c:dLbls>
          <c:numFmt formatCode="0.00" sourceLinked="0"/>
          <c:txPr>
            <a:bodyPr/>
            <a:lstStyle/>
            <a:p>
              <a:pPr>
                <a:defRPr b="0" i="0" strike="noStrike" sz="1050" u="none">
                  <a:solidFill>
                    <a:srgbClr val="0B1F3A"/>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0B1F3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ECL (₹ M)</c:v>
                </c:pt>
              </c:strCache>
            </c:strRef>
          </c:tx>
          <c:spPr>
            <a:solidFill>
              <a:srgbClr val="7FB8F0"/>
            </a:solidFill>
            <a:effectLst/>
          </c:spPr>
          <c:invertIfNegative val="0"/>
          <c:dLbls>
            <c:numFmt formatCode="0.00" sourceLinked="0"/>
            <c:txPr>
              <a:bodyPr/>
              <a:lstStyle/>
              <a:p>
                <a:pPr>
                  <a:defRPr b="0" i="0" strike="noStrike" sz="1200" u="none">
                    <a:solidFill>
                      <a:srgbClr val="0B1F3A"/>
                    </a:solidFill>
                    <a:latin typeface="Calibri"/>
                  </a:defRPr>
                </a:pPr>
              </a:p>
            </c:txPr>
            <c:showLegendKey val="0"/>
            <c:showVal val="1"/>
            <c:showCatName val="0"/>
            <c:showSerName val="0"/>
            <c:showPercent val="0"/>
            <c:showBubbleSize val="0"/>
            <c:showLeaderLines val="0"/>
          </c:dLbls>
          <c:dPt>
            <c:idx val="0"/>
            <c:invertIfNegative val="0"/>
            <c:bubble3D val="0"/>
            <c:spPr>
              <a:solidFill>
                <a:srgbClr val="7FB8F0"/>
              </a:solidFill>
              <a:effectLst/>
            </c:spPr>
          </c:dPt>
          <c:dPt>
            <c:idx val="1"/>
            <c:invertIfNegative val="0"/>
            <c:bubble3D val="0"/>
            <c:spPr>
              <a:solidFill>
                <a:srgbClr val="118DFF"/>
              </a:solidFill>
              <a:effectLst/>
            </c:spPr>
          </c:dPt>
          <c:dPt>
            <c:idx val="2"/>
            <c:invertIfNegative val="0"/>
            <c:bubble3D val="0"/>
            <c:spPr>
              <a:solidFill>
                <a:srgbClr val="1F5FBF"/>
              </a:solidFill>
              <a:effectLst/>
            </c:spPr>
          </c:dPt>
          <c:dPt>
            <c:idx val="3"/>
            <c:invertIfNegative val="0"/>
            <c:bubble3D val="0"/>
            <c:spPr>
              <a:solidFill>
                <a:srgbClr val="0B1F3A"/>
              </a:solidFill>
              <a:effectLst/>
            </c:spPr>
          </c:dPt>
          <c:cat>
            <c:multiLvlStrRef>
              <c:f>Sheet1!$A$2:$A$5</c:f>
              <c:multiLvlStrCache>
                <c:ptCount val="4"/>
                <c:lvl>
                  <c:pt idx="0">
                    <c:v>Base  ×1.00</c:v>
                  </c:pt>
                  <c:pt idx="1">
                    <c:v>Moderate  ×1.25</c:v>
                  </c:pt>
                  <c:pt idx="2">
                    <c:v>Severe  ×1.50</c:v>
                  </c:pt>
                  <c:pt idx="3">
                    <c:v>Crisis  ×2.00</c:v>
                  </c:pt>
                </c:lvl>
              </c:multiLvlStrCache>
            </c:multiLvlStrRef>
          </c:cat>
          <c:val>
            <c:numRef>
              <c:f>Sheet1!$B$2:$B$5</c:f>
              <c:numCache>
                <c:formatCode>General</c:formatCode>
                <c:ptCount val="4"/>
                <c:pt idx="0">
                  <c:v>5.53</c:v>
                </c:pt>
                <c:pt idx="1">
                  <c:v>6.91</c:v>
                </c:pt>
                <c:pt idx="2">
                  <c:v>8.29</c:v>
                </c:pt>
                <c:pt idx="3">
                  <c:v>11.06</c:v>
                </c:pt>
              </c:numCache>
            </c:numRef>
          </c:val>
        </c:ser>
        <c:dLbls>
          <c:numFmt formatCode="0.00" sourceLinked="0"/>
          <c:txPr>
            <a:bodyPr/>
            <a:lstStyle/>
            <a:p>
              <a:pPr>
                <a:defRPr b="0" i="0" strike="noStrike" sz="1200" u="none">
                  <a:solidFill>
                    <a:srgbClr val="0B1F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0B1F3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ms</c:v>
                </c:pt>
              </c:strCache>
            </c:strRef>
          </c:tx>
          <c:spPr>
            <a:solidFill>
              <a:srgbClr val="118DFF"/>
            </a:solidFill>
            <a:effectLst/>
          </c:spPr>
          <c:invertIfNegative val="0"/>
          <c:dLbls>
            <c:numFmt formatCode="0" sourceLinked="0"/>
            <c:txPr>
              <a:bodyPr/>
              <a:lstStyle/>
              <a:p>
                <a:pPr>
                  <a:defRPr b="0" i="0" strike="noStrike" sz="800" u="none">
                    <a:solidFill>
                      <a:srgbClr val="0B1F3A"/>
                    </a:solidFill>
                    <a:latin typeface="Calibri"/>
                  </a:defRPr>
                </a:pPr>
              </a:p>
            </c:txPr>
            <c:showLegendKey val="0"/>
            <c:showVal val="1"/>
            <c:showCatName val="0"/>
            <c:showSerName val="0"/>
            <c:showPercent val="0"/>
            <c:showBubbleSize val="0"/>
            <c:showLeaderLines val="0"/>
          </c:dLbls>
          <c:cat>
            <c:multiLvlStrRef>
              <c:f>Sheet1!$A$2:$A$15</c:f>
              <c:multiLvlStrCache>
                <c:ptCount val="14"/>
                <c:lvl>
                  <c:pt idx="0">
                    <c:v>DPD Performance Query</c:v>
                  </c:pt>
                  <c:pt idx="1">
                    <c:v>Waterfall Validation Query</c:v>
                  </c:pt>
                  <c:pt idx="2">
                    <c:v>Delinquency Reporting</c:v>
                  </c:pt>
                  <c:pt idx="3">
                    <c:v>Loss &amp; Recovery Query</c:v>
                  </c:pt>
                  <c:pt idx="4">
                    <c:v>Total Portfolio Query</c:v>
                  </c:pt>
                  <c:pt idx="5">
                    <c:v>Vehicle Portfolio Quality</c:v>
                  </c:pt>
                  <c:pt idx="6">
                    <c:v>ECL Calculation Query</c:v>
                  </c:pt>
                  <c:pt idx="7">
                    <c:v>IFRS 9 / ECL Query</c:v>
                  </c:pt>
                  <c:pt idx="8">
                    <c:v>Stress Testing</c:v>
                  </c:pt>
                  <c:pt idx="9">
                    <c:v>Collection / Portfolio Quality</c:v>
                  </c:pt>
                  <c:pt idx="10">
                    <c:v>Stress Testing Query</c:v>
                  </c:pt>
                  <c:pt idx="11">
                    <c:v>ECL Calculation</c:v>
                  </c:pt>
                  <c:pt idx="12">
                    <c:v>Prepayment</c:v>
                  </c:pt>
                  <c:pt idx="13">
                    <c:v>Waterfall &amp; Trigger Status</c:v>
                  </c:pt>
                </c:lvl>
              </c:multiLvlStrCache>
            </c:multiLvlStrRef>
          </c:cat>
          <c:val>
            <c:numRef>
              <c:f>Sheet1!$B$2:$B$15</c:f>
              <c:numCache>
                <c:formatCode>General</c:formatCode>
                <c:ptCount val="14"/>
                <c:pt idx="0">
                  <c:v>60</c:v>
                </c:pt>
                <c:pt idx="1">
                  <c:v>57</c:v>
                </c:pt>
                <c:pt idx="2">
                  <c:v>37</c:v>
                </c:pt>
                <c:pt idx="3">
                  <c:v>31</c:v>
                </c:pt>
                <c:pt idx="4">
                  <c:v>27</c:v>
                </c:pt>
                <c:pt idx="5">
                  <c:v>27</c:v>
                </c:pt>
                <c:pt idx="6">
                  <c:v>17</c:v>
                </c:pt>
                <c:pt idx="7">
                  <c:v>17</c:v>
                </c:pt>
                <c:pt idx="8">
                  <c:v>13</c:v>
                </c:pt>
                <c:pt idx="9">
                  <c:v>11</c:v>
                </c:pt>
                <c:pt idx="10">
                  <c:v>10</c:v>
                </c:pt>
                <c:pt idx="11">
                  <c:v>10</c:v>
                </c:pt>
                <c:pt idx="12">
                  <c:v>10</c:v>
                </c:pt>
                <c:pt idx="13">
                  <c:v>7</c:v>
                </c:pt>
              </c:numCache>
            </c:numRef>
          </c:val>
        </c:ser>
        <c:dLbls>
          <c:numFmt formatCode="0" sourceLinked="0"/>
          <c:txPr>
            <a:bodyPr/>
            <a:lstStyle/>
            <a:p>
              <a:pPr>
                <a:defRPr b="0" i="0" strike="noStrike" sz="800" u="none">
                  <a:solidFill>
                    <a:srgbClr val="0B1F3A"/>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0B1F3A"/>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1E8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7A8799"/>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Power BI analytical solution for monitoring an auto-loan securitisation portfolio. The right-hand panel is the roadmap for the next nine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solution that covers monitoring, risk, reporting and validation. Ten objectives from the report, grouped left (analysis) and right (risk, reporting,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from the centre out: a loan-level fact table, filtered by four dimensions (DimLoan, DimBorrower, DimVehicle, DimDate). Two supporting tables feed delinquency snapshots and vintage analysis. Star schema keeps DAX simple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measures. Total Loans, Original Balance, Total Outstanding and Collections are computed from the loan data tape and match the workbook. Net Loss and Amount Overdue are shown live on the Power BI dashboard. Right: outstanding balance by vehicle type; SUV and MUV are the largest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of the outstanding balance, 79.4% is current and 14.1% is 30+ DPD (balance-based, as defined by the 30Plus DPD Rate measure). Right: the three trend and cohort views built in the dashboard: delinquency trends, Cumulative Net Loss Rate by vintage, and Average DPD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ECL = 12M PD × LGD × EAD. Figures are from the ECL Crosscheck sheet: EAD ₹326.16M, 12M PD 1.8%, LGD 94.16%, ECL ₹5.53M. The Excel recalculation differs from DAX by only ₹62. Stage split is outstanding balance by IFRS 9 stage from the data 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what-if parameters drive the stress-adjusted ECL. The dashboard compares Base, Moderate (1.25x), Severe (1.50x) and Crisis (2.00x) ECL. Scenario values shown are the base DAX ECL multiplied by each scenario multiplier. Values for haircut, prepayment change and rate shock are chosen interactively and are not fixed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collections fill the Senior tranche first (capped at 70% of outstanding), then Mezzanine (capped at 20%), with any remainder to Equity. In the validated scenario collections of ₹11.15M all went to Senior. OC and trigger thresholds are from the DAX measures. Investor reporting has six sections; the loan-level data tape was exported to CSV for rating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Excel validations: ECL variance is ₹62 and waterfall variance is zero. DAX Studio tested 14 queries; the slowest was 60 ms, all under the 100 ms target. RLS: five roles were created (Auditor, Portfolio Manager, Risk Analyst, Senior Management, Servicer). Be explicit: full filter-propagation validation across related tables was not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crises show why continuous monitoring of loan quality, liquidity and credit enhancement matters, which is what this dashboard supports. Conclusion: one integrated solution, validated in Excel and DAX Studio. Future scope from the report: finish the RLS filter-propagation validation. Final takeaway: validation, transparency, security and performance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4.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5.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868680"/>
            <a:ext cx="4846320" cy="228600"/>
          </a:xfrm>
          <a:prstGeom prst="rect">
            <a:avLst/>
          </a:prstGeom>
          <a:noFill/>
          <a:ln/>
        </p:spPr>
        <p:txBody>
          <a:bodyPr wrap="square" lIns="0" tIns="0" rIns="0" bIns="0" rtlCol="0" anchor="t"/>
          <a:lstStyle/>
          <a:p>
            <a:pPr indent="0" marL="0">
              <a:buNone/>
            </a:pPr>
            <a:r>
              <a:rPr lang="en-US" sz="1100" b="1" spc="300" kern="0" dirty="0">
                <a:solidFill>
                  <a:srgbClr val="F2C811"/>
                </a:solidFill>
                <a:latin typeface="Calibri" pitchFamily="34" charset="0"/>
                <a:ea typeface="Calibri" pitchFamily="34" charset="-122"/>
                <a:cs typeface="Calibri" pitchFamily="34" charset="-120"/>
              </a:rPr>
              <a:t>FINAL PROJECT PRESENTATION   ·   PROJECT 1</a:t>
            </a:r>
            <a:endParaRPr lang="en-US" sz="1100" dirty="0"/>
          </a:p>
        </p:txBody>
      </p:sp>
      <p:sp>
        <p:nvSpPr>
          <p:cNvPr id="3" name="Text 1"/>
          <p:cNvSpPr txBox="1"/>
          <p:nvPr/>
        </p:nvSpPr>
        <p:spPr>
          <a:xfrm>
            <a:off x="548640" y="1280160"/>
            <a:ext cx="475488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Auto-Loan Securitisation Portfolio Analysis</a:t>
            </a:r>
            <a:endParaRPr lang="en-US" sz="3800" dirty="0"/>
          </a:p>
        </p:txBody>
      </p:sp>
      <p:sp>
        <p:nvSpPr>
          <p:cNvPr id="4" name="Text 2"/>
          <p:cNvSpPr txBox="1"/>
          <p:nvPr/>
        </p:nvSpPr>
        <p:spPr>
          <a:xfrm>
            <a:off x="548640" y="3154680"/>
            <a:ext cx="4754880" cy="365760"/>
          </a:xfrm>
          <a:prstGeom prst="rect">
            <a:avLst/>
          </a:prstGeom>
          <a:noFill/>
          <a:ln/>
        </p:spPr>
        <p:txBody>
          <a:bodyPr wrap="square" lIns="0" tIns="0" rIns="0" bIns="0" rtlCol="0" anchor="t"/>
          <a:lstStyle/>
          <a:p>
            <a:pPr indent="0" marL="0">
              <a:buNone/>
            </a:pPr>
            <a:r>
              <a:rPr lang="en-US" sz="2000" dirty="0">
                <a:solidFill>
                  <a:srgbClr val="7FB8F0"/>
                </a:solidFill>
                <a:latin typeface="Calibri" pitchFamily="34" charset="0"/>
                <a:ea typeface="Calibri" pitchFamily="34" charset="-122"/>
                <a:cs typeface="Calibri" pitchFamily="34" charset="-120"/>
              </a:rPr>
              <a:t>Power BI Data Analytics Project</a:t>
            </a:r>
            <a:endParaRPr lang="en-US" sz="2000" dirty="0"/>
          </a:p>
        </p:txBody>
      </p:sp>
      <p:sp>
        <p:nvSpPr>
          <p:cNvPr id="5" name="Text 3"/>
          <p:cNvSpPr txBox="1"/>
          <p:nvPr/>
        </p:nvSpPr>
        <p:spPr>
          <a:xfrm>
            <a:off x="548640" y="4114800"/>
            <a:ext cx="4754880" cy="256032"/>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Prepared by Tiwari Kishlaynath Shailendrakumar</a:t>
            </a:r>
            <a:endParaRPr lang="en-US" sz="1250" dirty="0"/>
          </a:p>
        </p:txBody>
      </p:sp>
      <p:sp>
        <p:nvSpPr>
          <p:cNvPr id="6" name="Text 4"/>
          <p:cNvSpPr txBox="1"/>
          <p:nvPr/>
        </p:nvSpPr>
        <p:spPr>
          <a:xfrm>
            <a:off x="548640" y="4407408"/>
            <a:ext cx="4754880" cy="228600"/>
          </a:xfrm>
          <a:prstGeom prst="rect">
            <a:avLst/>
          </a:prstGeom>
          <a:noFill/>
          <a:ln/>
        </p:spPr>
        <p:txBody>
          <a:bodyPr wrap="square" lIns="0" tIns="0" rIns="0" bIns="0" rtlCol="0" anchor="t"/>
          <a:lstStyle/>
          <a:p>
            <a:pPr indent="0" marL="0">
              <a:buNone/>
            </a:pPr>
            <a:r>
              <a:rPr lang="en-US" sz="1100" dirty="0">
                <a:solidFill>
                  <a:srgbClr val="A9B8CC"/>
                </a:solidFill>
                <a:latin typeface="Calibri" pitchFamily="34" charset="0"/>
                <a:ea typeface="Calibri" pitchFamily="34" charset="-122"/>
                <a:cs typeface="Calibri" pitchFamily="34" charset="-120"/>
              </a:rPr>
              <a:t>Project 1   ·   September 2026</a:t>
            </a:r>
            <a:endParaRPr lang="en-US" sz="1100" dirty="0"/>
          </a:p>
        </p:txBody>
      </p:sp>
      <p:sp>
        <p:nvSpPr>
          <p:cNvPr id="7" name="Shape 5"/>
          <p:cNvSpPr/>
          <p:nvPr/>
        </p:nvSpPr>
        <p:spPr>
          <a:xfrm>
            <a:off x="5577840" y="640080"/>
            <a:ext cx="3108960" cy="3840480"/>
          </a:xfrm>
          <a:prstGeom prst="roundRect">
            <a:avLst>
              <a:gd name="adj" fmla="val 2941"/>
            </a:avLst>
          </a:prstGeom>
          <a:solidFill>
            <a:srgbClr val="12305A"/>
          </a:solidFill>
          <a:ln w="12700">
            <a:solidFill>
              <a:srgbClr val="12305A"/>
            </a:solidFill>
            <a:prstDash val="solid"/>
          </a:ln>
        </p:spPr>
      </p:sp>
      <p:sp>
        <p:nvSpPr>
          <p:cNvPr id="8" name="Text 6"/>
          <p:cNvSpPr txBox="1"/>
          <p:nvPr/>
        </p:nvSpPr>
        <p:spPr>
          <a:xfrm>
            <a:off x="5852160" y="868680"/>
            <a:ext cx="2651760" cy="201168"/>
          </a:xfrm>
          <a:prstGeom prst="rect">
            <a:avLst/>
          </a:prstGeom>
          <a:noFill/>
          <a:ln/>
        </p:spPr>
        <p:txBody>
          <a:bodyPr wrap="square" lIns="0" tIns="0" rIns="0" bIns="0" rtlCol="0" anchor="t"/>
          <a:lstStyle/>
          <a:p>
            <a:pPr indent="0" marL="0">
              <a:buNone/>
            </a:pPr>
            <a:r>
              <a:rPr lang="en-US" sz="1000" b="1" spc="200" kern="0" dirty="0">
                <a:solidFill>
                  <a:srgbClr val="F2C811"/>
                </a:solidFill>
                <a:latin typeface="Calibri" pitchFamily="34" charset="0"/>
                <a:ea typeface="Calibri" pitchFamily="34" charset="-122"/>
                <a:cs typeface="Calibri" pitchFamily="34" charset="-120"/>
              </a:rPr>
              <a:t>ANALYTICAL SCOPE</a:t>
            </a:r>
            <a:endParaRPr lang="en-US" sz="1000" dirty="0"/>
          </a:p>
        </p:txBody>
      </p:sp>
      <p:sp>
        <p:nvSpPr>
          <p:cNvPr id="9" name="Shape 7"/>
          <p:cNvSpPr/>
          <p:nvPr/>
        </p:nvSpPr>
        <p:spPr>
          <a:xfrm>
            <a:off x="5852160" y="1298448"/>
            <a:ext cx="292608" cy="292608"/>
          </a:xfrm>
          <a:prstGeom prst="ellipse">
            <a:avLst/>
          </a:prstGeom>
          <a:solidFill>
            <a:srgbClr val="1F5FBF"/>
          </a:solidFill>
          <a:ln w="12700">
            <a:solidFill>
              <a:srgbClr val="1F5FBF"/>
            </a:solidFill>
            <a:prstDash val="solid"/>
          </a:ln>
        </p:spPr>
      </p:sp>
      <p:pic>
        <p:nvPicPr>
          <p:cNvPr id="10" name="Image 0" descr="preencoded.png">    </p:cNvPr>
          <p:cNvPicPr>
            <a:picLocks noChangeAspect="1"/>
          </p:cNvPicPr>
          <p:nvPr/>
        </p:nvPicPr>
        <p:blipFill>
          <a:blip r:embed="rId1"/>
          <a:stretch>
            <a:fillRect/>
          </a:stretch>
        </p:blipFill>
        <p:spPr>
          <a:xfrm>
            <a:off x="5925312" y="1371600"/>
            <a:ext cx="146304" cy="146304"/>
          </a:xfrm>
          <a:prstGeom prst="rect">
            <a:avLst/>
          </a:prstGeom>
        </p:spPr>
      </p:pic>
      <p:sp>
        <p:nvSpPr>
          <p:cNvPr id="11" name="Text 8"/>
          <p:cNvSpPr txBox="1"/>
          <p:nvPr/>
        </p:nvSpPr>
        <p:spPr>
          <a:xfrm>
            <a:off x="6263640" y="1298448"/>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Portfolio Performance</a:t>
            </a:r>
            <a:endParaRPr lang="en-US" sz="1150" dirty="0"/>
          </a:p>
        </p:txBody>
      </p:sp>
      <p:sp>
        <p:nvSpPr>
          <p:cNvPr id="12" name="Shape 9"/>
          <p:cNvSpPr/>
          <p:nvPr/>
        </p:nvSpPr>
        <p:spPr>
          <a:xfrm>
            <a:off x="5852160" y="1691640"/>
            <a:ext cx="292608" cy="292608"/>
          </a:xfrm>
          <a:prstGeom prst="ellipse">
            <a:avLst/>
          </a:prstGeom>
          <a:solidFill>
            <a:srgbClr val="1F5FBF"/>
          </a:solidFill>
          <a:ln w="12700">
            <a:solidFill>
              <a:srgbClr val="1F5FBF"/>
            </a:solidFill>
            <a:prstDash val="solid"/>
          </a:ln>
        </p:spPr>
      </p:sp>
      <p:pic>
        <p:nvPicPr>
          <p:cNvPr id="13" name="Image 1" descr="preencoded.png">    </p:cNvPr>
          <p:cNvPicPr>
            <a:picLocks noChangeAspect="1"/>
          </p:cNvPicPr>
          <p:nvPr/>
        </p:nvPicPr>
        <p:blipFill>
          <a:blip r:embed="rId2"/>
          <a:stretch>
            <a:fillRect/>
          </a:stretch>
        </p:blipFill>
        <p:spPr>
          <a:xfrm>
            <a:off x="5925312" y="1764792"/>
            <a:ext cx="146304" cy="146304"/>
          </a:xfrm>
          <a:prstGeom prst="rect">
            <a:avLst/>
          </a:prstGeom>
        </p:spPr>
      </p:pic>
      <p:sp>
        <p:nvSpPr>
          <p:cNvPr id="14" name="Text 10"/>
          <p:cNvSpPr txBox="1"/>
          <p:nvPr/>
        </p:nvSpPr>
        <p:spPr>
          <a:xfrm>
            <a:off x="6263640" y="1691640"/>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DPD &amp; Vintage Analysis</a:t>
            </a:r>
            <a:endParaRPr lang="en-US" sz="1150" dirty="0"/>
          </a:p>
        </p:txBody>
      </p:sp>
      <p:sp>
        <p:nvSpPr>
          <p:cNvPr id="15" name="Shape 11"/>
          <p:cNvSpPr/>
          <p:nvPr/>
        </p:nvSpPr>
        <p:spPr>
          <a:xfrm>
            <a:off x="5852160" y="2084832"/>
            <a:ext cx="292608" cy="292608"/>
          </a:xfrm>
          <a:prstGeom prst="ellipse">
            <a:avLst/>
          </a:prstGeom>
          <a:solidFill>
            <a:srgbClr val="1F5FBF"/>
          </a:solidFill>
          <a:ln w="12700">
            <a:solidFill>
              <a:srgbClr val="1F5FBF"/>
            </a:solidFill>
            <a:prstDash val="solid"/>
          </a:ln>
        </p:spPr>
      </p:sp>
      <p:pic>
        <p:nvPicPr>
          <p:cNvPr id="16" name="Image 2" descr="preencoded.png">    </p:cNvPr>
          <p:cNvPicPr>
            <a:picLocks noChangeAspect="1"/>
          </p:cNvPicPr>
          <p:nvPr/>
        </p:nvPicPr>
        <p:blipFill>
          <a:blip r:embed="rId3"/>
          <a:stretch>
            <a:fillRect/>
          </a:stretch>
        </p:blipFill>
        <p:spPr>
          <a:xfrm>
            <a:off x="5925312" y="2157984"/>
            <a:ext cx="146304" cy="146304"/>
          </a:xfrm>
          <a:prstGeom prst="rect">
            <a:avLst/>
          </a:prstGeom>
        </p:spPr>
      </p:pic>
      <p:sp>
        <p:nvSpPr>
          <p:cNvPr id="17" name="Text 12"/>
          <p:cNvSpPr txBox="1"/>
          <p:nvPr/>
        </p:nvSpPr>
        <p:spPr>
          <a:xfrm>
            <a:off x="6263640" y="2084832"/>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IFRS 9 Expected Credit Loss</a:t>
            </a:r>
            <a:endParaRPr lang="en-US" sz="1150" dirty="0"/>
          </a:p>
        </p:txBody>
      </p:sp>
      <p:sp>
        <p:nvSpPr>
          <p:cNvPr id="18" name="Shape 13"/>
          <p:cNvSpPr/>
          <p:nvPr/>
        </p:nvSpPr>
        <p:spPr>
          <a:xfrm>
            <a:off x="5852160" y="2478024"/>
            <a:ext cx="292608" cy="292608"/>
          </a:xfrm>
          <a:prstGeom prst="ellipse">
            <a:avLst/>
          </a:prstGeom>
          <a:solidFill>
            <a:srgbClr val="1F5FBF"/>
          </a:solidFill>
          <a:ln w="12700">
            <a:solidFill>
              <a:srgbClr val="1F5FBF"/>
            </a:solidFill>
            <a:prstDash val="solid"/>
          </a:ln>
        </p:spPr>
      </p:sp>
      <p:pic>
        <p:nvPicPr>
          <p:cNvPr id="19" name="Image 3" descr="preencoded.png">    </p:cNvPr>
          <p:cNvPicPr>
            <a:picLocks noChangeAspect="1"/>
          </p:cNvPicPr>
          <p:nvPr/>
        </p:nvPicPr>
        <p:blipFill>
          <a:blip r:embed="rId4"/>
          <a:stretch>
            <a:fillRect/>
          </a:stretch>
        </p:blipFill>
        <p:spPr>
          <a:xfrm>
            <a:off x="5925312" y="2551176"/>
            <a:ext cx="146304" cy="146304"/>
          </a:xfrm>
          <a:prstGeom prst="rect">
            <a:avLst/>
          </a:prstGeom>
        </p:spPr>
      </p:pic>
      <p:sp>
        <p:nvSpPr>
          <p:cNvPr id="20" name="Text 14"/>
          <p:cNvSpPr txBox="1"/>
          <p:nvPr/>
        </p:nvSpPr>
        <p:spPr>
          <a:xfrm>
            <a:off x="6263640" y="2478024"/>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Stress Testing</a:t>
            </a:r>
            <a:endParaRPr lang="en-US" sz="1150" dirty="0"/>
          </a:p>
        </p:txBody>
      </p:sp>
      <p:sp>
        <p:nvSpPr>
          <p:cNvPr id="21" name="Shape 15"/>
          <p:cNvSpPr/>
          <p:nvPr/>
        </p:nvSpPr>
        <p:spPr>
          <a:xfrm>
            <a:off x="5852160" y="2871216"/>
            <a:ext cx="292608" cy="292608"/>
          </a:xfrm>
          <a:prstGeom prst="ellipse">
            <a:avLst/>
          </a:prstGeom>
          <a:solidFill>
            <a:srgbClr val="1F5FBF"/>
          </a:solidFill>
          <a:ln w="12700">
            <a:solidFill>
              <a:srgbClr val="1F5FBF"/>
            </a:solidFill>
            <a:prstDash val="solid"/>
          </a:ln>
        </p:spPr>
      </p:sp>
      <p:pic>
        <p:nvPicPr>
          <p:cNvPr id="22" name="Image 4" descr="preencoded.png">    </p:cNvPr>
          <p:cNvPicPr>
            <a:picLocks noChangeAspect="1"/>
          </p:cNvPicPr>
          <p:nvPr/>
        </p:nvPicPr>
        <p:blipFill>
          <a:blip r:embed="rId5"/>
          <a:stretch>
            <a:fillRect/>
          </a:stretch>
        </p:blipFill>
        <p:spPr>
          <a:xfrm>
            <a:off x="5925312" y="2944368"/>
            <a:ext cx="146304" cy="146304"/>
          </a:xfrm>
          <a:prstGeom prst="rect">
            <a:avLst/>
          </a:prstGeom>
        </p:spPr>
      </p:pic>
      <p:sp>
        <p:nvSpPr>
          <p:cNvPr id="23" name="Text 16"/>
          <p:cNvSpPr txBox="1"/>
          <p:nvPr/>
        </p:nvSpPr>
        <p:spPr>
          <a:xfrm>
            <a:off x="6263640" y="2871216"/>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Waterfall &amp; Tranche Analysis</a:t>
            </a:r>
            <a:endParaRPr lang="en-US" sz="1150" dirty="0"/>
          </a:p>
        </p:txBody>
      </p:sp>
      <p:sp>
        <p:nvSpPr>
          <p:cNvPr id="24" name="Shape 17"/>
          <p:cNvSpPr/>
          <p:nvPr/>
        </p:nvSpPr>
        <p:spPr>
          <a:xfrm>
            <a:off x="5852160" y="3264408"/>
            <a:ext cx="292608" cy="292608"/>
          </a:xfrm>
          <a:prstGeom prst="ellipse">
            <a:avLst/>
          </a:prstGeom>
          <a:solidFill>
            <a:srgbClr val="1F5FBF"/>
          </a:solidFill>
          <a:ln w="12700">
            <a:solidFill>
              <a:srgbClr val="1F5FBF"/>
            </a:solidFill>
            <a:prstDash val="solid"/>
          </a:ln>
        </p:spPr>
      </p:sp>
      <p:pic>
        <p:nvPicPr>
          <p:cNvPr id="25" name="Image 5" descr="preencoded.png">    </p:cNvPr>
          <p:cNvPicPr>
            <a:picLocks noChangeAspect="1"/>
          </p:cNvPicPr>
          <p:nvPr/>
        </p:nvPicPr>
        <p:blipFill>
          <a:blip r:embed="rId6"/>
          <a:stretch>
            <a:fillRect/>
          </a:stretch>
        </p:blipFill>
        <p:spPr>
          <a:xfrm>
            <a:off x="5925312" y="3337560"/>
            <a:ext cx="146304" cy="146304"/>
          </a:xfrm>
          <a:prstGeom prst="rect">
            <a:avLst/>
          </a:prstGeom>
        </p:spPr>
      </p:pic>
      <p:sp>
        <p:nvSpPr>
          <p:cNvPr id="26" name="Text 18"/>
          <p:cNvSpPr txBox="1"/>
          <p:nvPr/>
        </p:nvSpPr>
        <p:spPr>
          <a:xfrm>
            <a:off x="6263640" y="3264408"/>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Investor Reporting &amp; Data Tape</a:t>
            </a:r>
            <a:endParaRPr lang="en-US" sz="1150" dirty="0"/>
          </a:p>
        </p:txBody>
      </p:sp>
      <p:sp>
        <p:nvSpPr>
          <p:cNvPr id="27" name="Shape 19"/>
          <p:cNvSpPr/>
          <p:nvPr/>
        </p:nvSpPr>
        <p:spPr>
          <a:xfrm>
            <a:off x="5852160" y="3657600"/>
            <a:ext cx="292608" cy="292608"/>
          </a:xfrm>
          <a:prstGeom prst="ellipse">
            <a:avLst/>
          </a:prstGeom>
          <a:solidFill>
            <a:srgbClr val="1F5FBF"/>
          </a:solidFill>
          <a:ln w="12700">
            <a:solidFill>
              <a:srgbClr val="1F5FBF"/>
            </a:solidFill>
            <a:prstDash val="solid"/>
          </a:ln>
        </p:spPr>
      </p:sp>
      <p:pic>
        <p:nvPicPr>
          <p:cNvPr id="28" name="Image 6" descr="preencoded.png">    </p:cNvPr>
          <p:cNvPicPr>
            <a:picLocks noChangeAspect="1"/>
          </p:cNvPicPr>
          <p:nvPr/>
        </p:nvPicPr>
        <p:blipFill>
          <a:blip r:embed="rId7"/>
          <a:stretch>
            <a:fillRect/>
          </a:stretch>
        </p:blipFill>
        <p:spPr>
          <a:xfrm>
            <a:off x="5925312" y="3730752"/>
            <a:ext cx="146304" cy="146304"/>
          </a:xfrm>
          <a:prstGeom prst="rect">
            <a:avLst/>
          </a:prstGeom>
        </p:spPr>
      </p:pic>
      <p:sp>
        <p:nvSpPr>
          <p:cNvPr id="29" name="Text 20"/>
          <p:cNvSpPr txBox="1"/>
          <p:nvPr/>
        </p:nvSpPr>
        <p:spPr>
          <a:xfrm>
            <a:off x="6263640" y="3657600"/>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Excel &amp; DAX Studio Validation</a:t>
            </a:r>
            <a:endParaRPr lang="en-US" sz="1150" dirty="0"/>
          </a:p>
        </p:txBody>
      </p:sp>
      <p:sp>
        <p:nvSpPr>
          <p:cNvPr id="30" name="Shape 21"/>
          <p:cNvSpPr/>
          <p:nvPr/>
        </p:nvSpPr>
        <p:spPr>
          <a:xfrm>
            <a:off x="5852160" y="4050792"/>
            <a:ext cx="292608" cy="292608"/>
          </a:xfrm>
          <a:prstGeom prst="ellipse">
            <a:avLst/>
          </a:prstGeom>
          <a:solidFill>
            <a:srgbClr val="1F5FBF"/>
          </a:solidFill>
          <a:ln w="12700">
            <a:solidFill>
              <a:srgbClr val="1F5FBF"/>
            </a:solidFill>
            <a:prstDash val="solid"/>
          </a:ln>
        </p:spPr>
      </p:sp>
      <p:pic>
        <p:nvPicPr>
          <p:cNvPr id="31" name="Image 7" descr="preencoded.png">    </p:cNvPr>
          <p:cNvPicPr>
            <a:picLocks noChangeAspect="1"/>
          </p:cNvPicPr>
          <p:nvPr/>
        </p:nvPicPr>
        <p:blipFill>
          <a:blip r:embed="rId8"/>
          <a:stretch>
            <a:fillRect/>
          </a:stretch>
        </p:blipFill>
        <p:spPr>
          <a:xfrm>
            <a:off x="5925312" y="4123944"/>
            <a:ext cx="146304" cy="146304"/>
          </a:xfrm>
          <a:prstGeom prst="rect">
            <a:avLst/>
          </a:prstGeom>
        </p:spPr>
      </p:pic>
      <p:sp>
        <p:nvSpPr>
          <p:cNvPr id="32" name="Text 22"/>
          <p:cNvSpPr txBox="1"/>
          <p:nvPr/>
        </p:nvSpPr>
        <p:spPr>
          <a:xfrm>
            <a:off x="6263640" y="4050792"/>
            <a:ext cx="233172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Role-Based Security (RLS)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01  ·  OVERVIEW</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Project Overview &amp; Objectives</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2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 Executive Summary, Project Objective, Securitisation &amp; Auto Loan Portfolio Overview.</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34440"/>
            <a:ext cx="3017520" cy="3383280"/>
          </a:xfrm>
          <a:prstGeom prst="roundRect">
            <a:avLst>
              <a:gd name="adj" fmla="val 2424"/>
            </a:avLst>
          </a:prstGeom>
          <a:solidFill>
            <a:srgbClr val="0B1F3A"/>
          </a:solidFill>
          <a:ln w="9525">
            <a:solidFill>
              <a:srgbClr val="0B1F3A"/>
            </a:solidFill>
            <a:prstDash val="solid"/>
          </a:ln>
          <a:effectLst>
            <a:outerShdw sx="100000" sy="100000" kx="0" ky="0" algn="bl" rotWithShape="0" blurRad="101600" dist="25400" dir="5400000">
              <a:srgbClr val="0B1F3A">
                <a:alpha val="10000"/>
              </a:srgbClr>
            </a:outerShdw>
          </a:effectLst>
        </p:spPr>
      </p:sp>
      <p:sp>
        <p:nvSpPr>
          <p:cNvPr id="8" name="Shape 6"/>
          <p:cNvSpPr/>
          <p:nvPr/>
        </p:nvSpPr>
        <p:spPr>
          <a:xfrm>
            <a:off x="685800" y="1463040"/>
            <a:ext cx="457200" cy="457200"/>
          </a:xfrm>
          <a:prstGeom prst="ellipse">
            <a:avLst/>
          </a:prstGeom>
          <a:solidFill>
            <a:srgbClr val="F2C811"/>
          </a:solidFill>
          <a:ln w="12700">
            <a:solidFill>
              <a:srgbClr val="F2C811"/>
            </a:solidFill>
            <a:prstDash val="solid"/>
          </a:ln>
        </p:spPr>
      </p:sp>
      <p:pic>
        <p:nvPicPr>
          <p:cNvPr id="9" name="Image 0" descr="preencoded.png">    </p:cNvPr>
          <p:cNvPicPr>
            <a:picLocks noChangeAspect="1"/>
          </p:cNvPicPr>
          <p:nvPr/>
        </p:nvPicPr>
        <p:blipFill>
          <a:blip r:embed="rId1"/>
          <a:stretch>
            <a:fillRect/>
          </a:stretch>
        </p:blipFill>
        <p:spPr>
          <a:xfrm>
            <a:off x="800100" y="1577340"/>
            <a:ext cx="228600" cy="228600"/>
          </a:xfrm>
          <a:prstGeom prst="rect">
            <a:avLst/>
          </a:prstGeom>
        </p:spPr>
      </p:pic>
      <p:sp>
        <p:nvSpPr>
          <p:cNvPr id="10" name="Text 7"/>
          <p:cNvSpPr txBox="1"/>
          <p:nvPr/>
        </p:nvSpPr>
        <p:spPr>
          <a:xfrm>
            <a:off x="1280160" y="1572768"/>
            <a:ext cx="1828800" cy="228600"/>
          </a:xfrm>
          <a:prstGeom prst="rect">
            <a:avLst/>
          </a:prstGeom>
          <a:noFill/>
          <a:ln/>
        </p:spPr>
        <p:txBody>
          <a:bodyPr wrap="square" lIns="0" tIns="0" rIns="0" bIns="0" rtlCol="0" anchor="t"/>
          <a:lstStyle/>
          <a:p>
            <a:pPr indent="0" marL="0">
              <a:buNone/>
            </a:pPr>
            <a:r>
              <a:rPr lang="en-US" sz="1000" b="1" spc="200" kern="0" dirty="0">
                <a:solidFill>
                  <a:srgbClr val="F2C811"/>
                </a:solidFill>
                <a:latin typeface="Calibri" pitchFamily="34" charset="0"/>
                <a:ea typeface="Calibri" pitchFamily="34" charset="-122"/>
                <a:cs typeface="Calibri" pitchFamily="34" charset="-120"/>
              </a:rPr>
              <a:t>PURPOSE</a:t>
            </a:r>
            <a:endParaRPr lang="en-US" sz="1000" dirty="0"/>
          </a:p>
        </p:txBody>
      </p:sp>
      <p:sp>
        <p:nvSpPr>
          <p:cNvPr id="11" name="Text 8"/>
          <p:cNvSpPr txBox="1"/>
          <p:nvPr/>
        </p:nvSpPr>
        <p:spPr>
          <a:xfrm>
            <a:off x="685800" y="2103120"/>
            <a:ext cx="2560320" cy="128016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Build an interactive Power BI solution to monitor and evaluate an auto-loan securitisation portfolio.</a:t>
            </a:r>
            <a:endParaRPr lang="en-US" sz="1550" dirty="0"/>
          </a:p>
        </p:txBody>
      </p:sp>
      <p:sp>
        <p:nvSpPr>
          <p:cNvPr id="12" name="Text 9"/>
          <p:cNvSpPr txBox="1"/>
          <p:nvPr/>
        </p:nvSpPr>
        <p:spPr>
          <a:xfrm>
            <a:off x="685800" y="3429000"/>
            <a:ext cx="2560320" cy="1051560"/>
          </a:xfrm>
          <a:prstGeom prst="rect">
            <a:avLst/>
          </a:prstGeom>
          <a:noFill/>
          <a:ln/>
        </p:spPr>
        <p:txBody>
          <a:bodyPr wrap="square" lIns="0" tIns="0" rIns="0" bIns="0" rtlCol="0" anchor="t"/>
          <a:lstStyle/>
          <a:p>
            <a:pPr indent="0" marL="0">
              <a:buNone/>
            </a:pPr>
            <a:r>
              <a:rPr lang="en-US" sz="1100" dirty="0">
                <a:solidFill>
                  <a:srgbClr val="C9D6E8"/>
                </a:solidFill>
                <a:latin typeface="Calibri" pitchFamily="34" charset="0"/>
                <a:ea typeface="Calibri" pitchFamily="34" charset="-122"/>
                <a:cs typeface="Calibri" pitchFamily="34" charset="-120"/>
              </a:rPr>
              <a:t>Auto-loan securitisation pools individual auto loans and analyses the portfolio by balance, cash flows, delinquency, losses, recoveries, prepayments and credit risk.</a:t>
            </a:r>
            <a:endParaRPr lang="en-US" sz="1100" dirty="0"/>
          </a:p>
        </p:txBody>
      </p:sp>
      <p:sp>
        <p:nvSpPr>
          <p:cNvPr id="13" name="Text 10"/>
          <p:cNvSpPr txBox="1"/>
          <p:nvPr/>
        </p:nvSpPr>
        <p:spPr>
          <a:xfrm>
            <a:off x="3749040" y="1234440"/>
            <a:ext cx="27432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KEY OBJECTIVES</a:t>
            </a:r>
            <a:endParaRPr lang="en-US" sz="1000" dirty="0"/>
          </a:p>
        </p:txBody>
      </p:sp>
      <p:sp>
        <p:nvSpPr>
          <p:cNvPr id="14" name="Shape 11"/>
          <p:cNvSpPr/>
          <p:nvPr/>
        </p:nvSpPr>
        <p:spPr>
          <a:xfrm>
            <a:off x="3749040" y="1508760"/>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5" name="Shape 12"/>
          <p:cNvSpPr/>
          <p:nvPr/>
        </p:nvSpPr>
        <p:spPr>
          <a:xfrm>
            <a:off x="3858768" y="1627632"/>
            <a:ext cx="292608" cy="292608"/>
          </a:xfrm>
          <a:prstGeom prst="ellipse">
            <a:avLst/>
          </a:prstGeom>
          <a:solidFill>
            <a:srgbClr val="0B1F3A"/>
          </a:solidFill>
          <a:ln w="12700">
            <a:solidFill>
              <a:srgbClr val="0B1F3A"/>
            </a:solidFill>
            <a:prstDash val="solid"/>
          </a:ln>
        </p:spPr>
      </p:sp>
      <p:sp>
        <p:nvSpPr>
          <p:cNvPr id="16" name="Text 13"/>
          <p:cNvSpPr txBox="1"/>
          <p:nvPr/>
        </p:nvSpPr>
        <p:spPr>
          <a:xfrm>
            <a:off x="3858768" y="16276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4"/>
          <p:cNvSpPr txBox="1"/>
          <p:nvPr/>
        </p:nvSpPr>
        <p:spPr>
          <a:xfrm>
            <a:off x="4251960" y="1545336"/>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Portfolio performance &amp; outstanding balances</a:t>
            </a:r>
            <a:endParaRPr lang="en-US" sz="1050" dirty="0"/>
          </a:p>
        </p:txBody>
      </p:sp>
      <p:sp>
        <p:nvSpPr>
          <p:cNvPr id="18" name="Shape 15"/>
          <p:cNvSpPr/>
          <p:nvPr/>
        </p:nvSpPr>
        <p:spPr>
          <a:xfrm>
            <a:off x="3749040" y="2130552"/>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9" name="Shape 16"/>
          <p:cNvSpPr/>
          <p:nvPr/>
        </p:nvSpPr>
        <p:spPr>
          <a:xfrm>
            <a:off x="3858768" y="2249424"/>
            <a:ext cx="292608" cy="292608"/>
          </a:xfrm>
          <a:prstGeom prst="ellipse">
            <a:avLst/>
          </a:prstGeom>
          <a:solidFill>
            <a:srgbClr val="0B1F3A"/>
          </a:solidFill>
          <a:ln w="12700">
            <a:solidFill>
              <a:srgbClr val="0B1F3A"/>
            </a:solidFill>
            <a:prstDash val="solid"/>
          </a:ln>
        </p:spPr>
      </p:sp>
      <p:sp>
        <p:nvSpPr>
          <p:cNvPr id="20" name="Text 17"/>
          <p:cNvSpPr txBox="1"/>
          <p:nvPr/>
        </p:nvSpPr>
        <p:spPr>
          <a:xfrm>
            <a:off x="3858768" y="22494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8"/>
          <p:cNvSpPr txBox="1"/>
          <p:nvPr/>
        </p:nvSpPr>
        <p:spPr>
          <a:xfrm>
            <a:off x="4251960" y="2167128"/>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Delinquency &amp; DPD behaviour monitoring</a:t>
            </a:r>
            <a:endParaRPr lang="en-US" sz="1050" dirty="0"/>
          </a:p>
        </p:txBody>
      </p:sp>
      <p:sp>
        <p:nvSpPr>
          <p:cNvPr id="22" name="Shape 19"/>
          <p:cNvSpPr/>
          <p:nvPr/>
        </p:nvSpPr>
        <p:spPr>
          <a:xfrm>
            <a:off x="3749040" y="2752344"/>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3" name="Shape 20"/>
          <p:cNvSpPr/>
          <p:nvPr/>
        </p:nvSpPr>
        <p:spPr>
          <a:xfrm>
            <a:off x="3858768" y="2871216"/>
            <a:ext cx="292608" cy="292608"/>
          </a:xfrm>
          <a:prstGeom prst="ellipse">
            <a:avLst/>
          </a:prstGeom>
          <a:solidFill>
            <a:srgbClr val="0B1F3A"/>
          </a:solidFill>
          <a:ln w="12700">
            <a:solidFill>
              <a:srgbClr val="0B1F3A"/>
            </a:solidFill>
            <a:prstDash val="solid"/>
          </a:ln>
        </p:spPr>
      </p:sp>
      <p:sp>
        <p:nvSpPr>
          <p:cNvPr id="24" name="Text 21"/>
          <p:cNvSpPr txBox="1"/>
          <p:nvPr/>
        </p:nvSpPr>
        <p:spPr>
          <a:xfrm>
            <a:off x="3858768" y="28712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2"/>
          <p:cNvSpPr txBox="1"/>
          <p:nvPr/>
        </p:nvSpPr>
        <p:spPr>
          <a:xfrm>
            <a:off x="4251960" y="2788920"/>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Performance across loan vintages</a:t>
            </a:r>
            <a:endParaRPr lang="en-US" sz="1050" dirty="0"/>
          </a:p>
        </p:txBody>
      </p:sp>
      <p:sp>
        <p:nvSpPr>
          <p:cNvPr id="26" name="Shape 23"/>
          <p:cNvSpPr/>
          <p:nvPr/>
        </p:nvSpPr>
        <p:spPr>
          <a:xfrm>
            <a:off x="3749040" y="3374136"/>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7" name="Shape 24"/>
          <p:cNvSpPr/>
          <p:nvPr/>
        </p:nvSpPr>
        <p:spPr>
          <a:xfrm>
            <a:off x="3858768" y="3493008"/>
            <a:ext cx="292608" cy="292608"/>
          </a:xfrm>
          <a:prstGeom prst="ellipse">
            <a:avLst/>
          </a:prstGeom>
          <a:solidFill>
            <a:srgbClr val="0B1F3A"/>
          </a:solidFill>
          <a:ln w="12700">
            <a:solidFill>
              <a:srgbClr val="0B1F3A"/>
            </a:solidFill>
            <a:prstDash val="solid"/>
          </a:ln>
        </p:spPr>
      </p:sp>
      <p:sp>
        <p:nvSpPr>
          <p:cNvPr id="28" name="Text 25"/>
          <p:cNvSpPr txBox="1"/>
          <p:nvPr/>
        </p:nvSpPr>
        <p:spPr>
          <a:xfrm>
            <a:off x="3858768" y="34930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6"/>
          <p:cNvSpPr txBox="1"/>
          <p:nvPr/>
        </p:nvSpPr>
        <p:spPr>
          <a:xfrm>
            <a:off x="4251960" y="3410712"/>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IFRS 9 Expected Credit Loss (ECL)</a:t>
            </a:r>
            <a:endParaRPr lang="en-US" sz="1050" dirty="0"/>
          </a:p>
        </p:txBody>
      </p:sp>
      <p:sp>
        <p:nvSpPr>
          <p:cNvPr id="30" name="Shape 27"/>
          <p:cNvSpPr/>
          <p:nvPr/>
        </p:nvSpPr>
        <p:spPr>
          <a:xfrm>
            <a:off x="3749040" y="3995928"/>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1" name="Shape 28"/>
          <p:cNvSpPr/>
          <p:nvPr/>
        </p:nvSpPr>
        <p:spPr>
          <a:xfrm>
            <a:off x="3858768" y="4114800"/>
            <a:ext cx="292608" cy="292608"/>
          </a:xfrm>
          <a:prstGeom prst="ellipse">
            <a:avLst/>
          </a:prstGeom>
          <a:solidFill>
            <a:srgbClr val="0B1F3A"/>
          </a:solidFill>
          <a:ln w="12700">
            <a:solidFill>
              <a:srgbClr val="0B1F3A"/>
            </a:solidFill>
            <a:prstDash val="solid"/>
          </a:ln>
        </p:spPr>
      </p:sp>
      <p:sp>
        <p:nvSpPr>
          <p:cNvPr id="32" name="Text 29"/>
          <p:cNvSpPr txBox="1"/>
          <p:nvPr/>
        </p:nvSpPr>
        <p:spPr>
          <a:xfrm>
            <a:off x="3858768" y="4114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0"/>
          <p:cNvSpPr txBox="1"/>
          <p:nvPr/>
        </p:nvSpPr>
        <p:spPr>
          <a:xfrm>
            <a:off x="4251960" y="4032504"/>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Behaviour under stress scenarios</a:t>
            </a:r>
            <a:endParaRPr lang="en-US" sz="1050" dirty="0"/>
          </a:p>
        </p:txBody>
      </p:sp>
      <p:sp>
        <p:nvSpPr>
          <p:cNvPr id="34" name="Shape 31"/>
          <p:cNvSpPr/>
          <p:nvPr/>
        </p:nvSpPr>
        <p:spPr>
          <a:xfrm>
            <a:off x="6263640" y="1508760"/>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5" name="Shape 32"/>
          <p:cNvSpPr/>
          <p:nvPr/>
        </p:nvSpPr>
        <p:spPr>
          <a:xfrm>
            <a:off x="6373368" y="1627632"/>
            <a:ext cx="292608" cy="292608"/>
          </a:xfrm>
          <a:prstGeom prst="ellipse">
            <a:avLst/>
          </a:prstGeom>
          <a:solidFill>
            <a:srgbClr val="0B1F3A"/>
          </a:solidFill>
          <a:ln w="12700">
            <a:solidFill>
              <a:srgbClr val="0B1F3A"/>
            </a:solidFill>
            <a:prstDash val="solid"/>
          </a:ln>
        </p:spPr>
      </p:sp>
      <p:sp>
        <p:nvSpPr>
          <p:cNvPr id="36" name="Text 33"/>
          <p:cNvSpPr txBox="1"/>
          <p:nvPr/>
        </p:nvSpPr>
        <p:spPr>
          <a:xfrm>
            <a:off x="6373368" y="16276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4"/>
          <p:cNvSpPr txBox="1"/>
          <p:nvPr/>
        </p:nvSpPr>
        <p:spPr>
          <a:xfrm>
            <a:off x="6766560" y="1545336"/>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Waterfall allocation &amp; credit enhancement</a:t>
            </a:r>
            <a:endParaRPr lang="en-US" sz="1050" dirty="0"/>
          </a:p>
        </p:txBody>
      </p:sp>
      <p:sp>
        <p:nvSpPr>
          <p:cNvPr id="38" name="Shape 35"/>
          <p:cNvSpPr/>
          <p:nvPr/>
        </p:nvSpPr>
        <p:spPr>
          <a:xfrm>
            <a:off x="6263640" y="2130552"/>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9" name="Shape 36"/>
          <p:cNvSpPr/>
          <p:nvPr/>
        </p:nvSpPr>
        <p:spPr>
          <a:xfrm>
            <a:off x="6373368" y="2249424"/>
            <a:ext cx="292608" cy="292608"/>
          </a:xfrm>
          <a:prstGeom prst="ellipse">
            <a:avLst/>
          </a:prstGeom>
          <a:solidFill>
            <a:srgbClr val="0B1F3A"/>
          </a:solidFill>
          <a:ln w="12700">
            <a:solidFill>
              <a:srgbClr val="0B1F3A"/>
            </a:solidFill>
            <a:prstDash val="solid"/>
          </a:ln>
        </p:spPr>
      </p:sp>
      <p:sp>
        <p:nvSpPr>
          <p:cNvPr id="40" name="Text 37"/>
          <p:cNvSpPr txBox="1"/>
          <p:nvPr/>
        </p:nvSpPr>
        <p:spPr>
          <a:xfrm>
            <a:off x="6373368" y="22494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8"/>
          <p:cNvSpPr txBox="1"/>
          <p:nvPr/>
        </p:nvSpPr>
        <p:spPr>
          <a:xfrm>
            <a:off x="6766560" y="2167128"/>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Investor-focused reporting &amp; summaries</a:t>
            </a:r>
            <a:endParaRPr lang="en-US" sz="1050" dirty="0"/>
          </a:p>
        </p:txBody>
      </p:sp>
      <p:sp>
        <p:nvSpPr>
          <p:cNvPr id="42" name="Shape 39"/>
          <p:cNvSpPr/>
          <p:nvPr/>
        </p:nvSpPr>
        <p:spPr>
          <a:xfrm>
            <a:off x="6263640" y="2752344"/>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43" name="Shape 40"/>
          <p:cNvSpPr/>
          <p:nvPr/>
        </p:nvSpPr>
        <p:spPr>
          <a:xfrm>
            <a:off x="6373368" y="2871216"/>
            <a:ext cx="292608" cy="292608"/>
          </a:xfrm>
          <a:prstGeom prst="ellipse">
            <a:avLst/>
          </a:prstGeom>
          <a:solidFill>
            <a:srgbClr val="0B1F3A"/>
          </a:solidFill>
          <a:ln w="12700">
            <a:solidFill>
              <a:srgbClr val="0B1F3A"/>
            </a:solidFill>
            <a:prstDash val="solid"/>
          </a:ln>
        </p:spPr>
      </p:sp>
      <p:sp>
        <p:nvSpPr>
          <p:cNvPr id="44" name="Text 41"/>
          <p:cNvSpPr txBox="1"/>
          <p:nvPr/>
        </p:nvSpPr>
        <p:spPr>
          <a:xfrm>
            <a:off x="6373368" y="28712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5" name="Text 42"/>
          <p:cNvSpPr txBox="1"/>
          <p:nvPr/>
        </p:nvSpPr>
        <p:spPr>
          <a:xfrm>
            <a:off x="6766560" y="2788920"/>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Loan-level data tape for rating agencies</a:t>
            </a:r>
            <a:endParaRPr lang="en-US" sz="1050" dirty="0"/>
          </a:p>
        </p:txBody>
      </p:sp>
      <p:sp>
        <p:nvSpPr>
          <p:cNvPr id="46" name="Shape 43"/>
          <p:cNvSpPr/>
          <p:nvPr/>
        </p:nvSpPr>
        <p:spPr>
          <a:xfrm>
            <a:off x="6263640" y="3374136"/>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47" name="Shape 44"/>
          <p:cNvSpPr/>
          <p:nvPr/>
        </p:nvSpPr>
        <p:spPr>
          <a:xfrm>
            <a:off x="6373368" y="3493008"/>
            <a:ext cx="292608" cy="292608"/>
          </a:xfrm>
          <a:prstGeom prst="ellipse">
            <a:avLst/>
          </a:prstGeom>
          <a:solidFill>
            <a:srgbClr val="0B1F3A"/>
          </a:solidFill>
          <a:ln w="12700">
            <a:solidFill>
              <a:srgbClr val="0B1F3A"/>
            </a:solidFill>
            <a:prstDash val="solid"/>
          </a:ln>
        </p:spPr>
      </p:sp>
      <p:sp>
        <p:nvSpPr>
          <p:cNvPr id="48" name="Text 45"/>
          <p:cNvSpPr txBox="1"/>
          <p:nvPr/>
        </p:nvSpPr>
        <p:spPr>
          <a:xfrm>
            <a:off x="6373368" y="34930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9" name="Text 46"/>
          <p:cNvSpPr txBox="1"/>
          <p:nvPr/>
        </p:nvSpPr>
        <p:spPr>
          <a:xfrm>
            <a:off x="6766560" y="3410712"/>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Validation using Excel &amp; DAX Studio</a:t>
            </a:r>
            <a:endParaRPr lang="en-US" sz="1050" dirty="0"/>
          </a:p>
        </p:txBody>
      </p:sp>
      <p:sp>
        <p:nvSpPr>
          <p:cNvPr id="50" name="Shape 47"/>
          <p:cNvSpPr/>
          <p:nvPr/>
        </p:nvSpPr>
        <p:spPr>
          <a:xfrm>
            <a:off x="6263640" y="3995928"/>
            <a:ext cx="2377440" cy="530352"/>
          </a:xfrm>
          <a:prstGeom prst="roundRect">
            <a:avLst>
              <a:gd name="adj" fmla="val 1379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51" name="Shape 48"/>
          <p:cNvSpPr/>
          <p:nvPr/>
        </p:nvSpPr>
        <p:spPr>
          <a:xfrm>
            <a:off x="6373368" y="4114800"/>
            <a:ext cx="292608" cy="292608"/>
          </a:xfrm>
          <a:prstGeom prst="ellipse">
            <a:avLst/>
          </a:prstGeom>
          <a:solidFill>
            <a:srgbClr val="0B1F3A"/>
          </a:solidFill>
          <a:ln w="12700">
            <a:solidFill>
              <a:srgbClr val="0B1F3A"/>
            </a:solidFill>
            <a:prstDash val="solid"/>
          </a:ln>
        </p:spPr>
      </p:sp>
      <p:sp>
        <p:nvSpPr>
          <p:cNvPr id="52" name="Text 49"/>
          <p:cNvSpPr txBox="1"/>
          <p:nvPr/>
        </p:nvSpPr>
        <p:spPr>
          <a:xfrm>
            <a:off x="6373368" y="4114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3" name="Text 50"/>
          <p:cNvSpPr txBox="1"/>
          <p:nvPr/>
        </p:nvSpPr>
        <p:spPr>
          <a:xfrm>
            <a:off x="6766560" y="4032504"/>
            <a:ext cx="1810512" cy="45720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Role-based access control (RLS)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02  ·  DATA &amp; MODEL</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Data &amp; Power BI Data Model</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3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 Data &amp; Star Schema; DAX Measure Dictionary (table names); loan data tape.</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2194560" y="1563624"/>
            <a:ext cx="548640" cy="676656"/>
          </a:xfrm>
          <a:prstGeom prst="line">
            <a:avLst/>
          </a:prstGeom>
          <a:noFill/>
          <a:ln w="22225">
            <a:solidFill>
              <a:srgbClr val="1F5FBF"/>
            </a:solidFill>
            <a:prstDash val="solid"/>
          </a:ln>
        </p:spPr>
      </p:sp>
      <p:sp>
        <p:nvSpPr>
          <p:cNvPr id="8" name="Shape 6"/>
          <p:cNvSpPr/>
          <p:nvPr/>
        </p:nvSpPr>
        <p:spPr>
          <a:xfrm flipV="1">
            <a:off x="3657600" y="1563624"/>
            <a:ext cx="548640" cy="676656"/>
          </a:xfrm>
          <a:prstGeom prst="line">
            <a:avLst/>
          </a:prstGeom>
          <a:noFill/>
          <a:ln w="22225">
            <a:solidFill>
              <a:srgbClr val="1F5FBF"/>
            </a:solidFill>
            <a:prstDash val="solid"/>
          </a:ln>
        </p:spPr>
      </p:sp>
      <p:sp>
        <p:nvSpPr>
          <p:cNvPr id="9" name="Shape 7"/>
          <p:cNvSpPr/>
          <p:nvPr/>
        </p:nvSpPr>
        <p:spPr>
          <a:xfrm flipV="1">
            <a:off x="2194560" y="3063240"/>
            <a:ext cx="548640" cy="694944"/>
          </a:xfrm>
          <a:prstGeom prst="line">
            <a:avLst/>
          </a:prstGeom>
          <a:noFill/>
          <a:ln w="22225">
            <a:solidFill>
              <a:srgbClr val="1F5FBF"/>
            </a:solidFill>
            <a:prstDash val="solid"/>
          </a:ln>
        </p:spPr>
      </p:sp>
      <p:sp>
        <p:nvSpPr>
          <p:cNvPr id="10" name="Shape 8"/>
          <p:cNvSpPr/>
          <p:nvPr/>
        </p:nvSpPr>
        <p:spPr>
          <a:xfrm>
            <a:off x="3657600" y="3063240"/>
            <a:ext cx="548640" cy="694944"/>
          </a:xfrm>
          <a:prstGeom prst="line">
            <a:avLst/>
          </a:prstGeom>
          <a:noFill/>
          <a:ln w="22225">
            <a:solidFill>
              <a:srgbClr val="1F5FBF"/>
            </a:solidFill>
            <a:prstDash val="solid"/>
          </a:ln>
        </p:spPr>
      </p:sp>
      <p:sp>
        <p:nvSpPr>
          <p:cNvPr id="11" name="Shape 9"/>
          <p:cNvSpPr/>
          <p:nvPr/>
        </p:nvSpPr>
        <p:spPr>
          <a:xfrm>
            <a:off x="1920240" y="2651760"/>
            <a:ext cx="274320" cy="0"/>
          </a:xfrm>
          <a:prstGeom prst="line">
            <a:avLst/>
          </a:prstGeom>
          <a:noFill/>
          <a:ln w="22225">
            <a:solidFill>
              <a:srgbClr val="1F5FBF"/>
            </a:solidFill>
            <a:prstDash val="solid"/>
          </a:ln>
        </p:spPr>
      </p:sp>
      <p:sp>
        <p:nvSpPr>
          <p:cNvPr id="12" name="Shape 10"/>
          <p:cNvSpPr/>
          <p:nvPr/>
        </p:nvSpPr>
        <p:spPr>
          <a:xfrm>
            <a:off x="4206240" y="2651760"/>
            <a:ext cx="274320" cy="0"/>
          </a:xfrm>
          <a:prstGeom prst="line">
            <a:avLst/>
          </a:prstGeom>
          <a:noFill/>
          <a:ln w="22225">
            <a:solidFill>
              <a:srgbClr val="1F5FBF"/>
            </a:solidFill>
            <a:prstDash val="solid"/>
          </a:ln>
        </p:spPr>
      </p:sp>
      <p:sp>
        <p:nvSpPr>
          <p:cNvPr id="13" name="Shape 11"/>
          <p:cNvSpPr/>
          <p:nvPr/>
        </p:nvSpPr>
        <p:spPr>
          <a:xfrm>
            <a:off x="548640" y="1280160"/>
            <a:ext cx="1645920" cy="566928"/>
          </a:xfrm>
          <a:prstGeom prst="roundRect">
            <a:avLst>
              <a:gd name="adj" fmla="val 12903"/>
            </a:avLst>
          </a:prstGeom>
          <a:solidFill>
            <a:srgbClr val="FFFFFF"/>
          </a:solidFill>
          <a:ln w="19050">
            <a:solidFill>
              <a:srgbClr val="0B1F3A"/>
            </a:solidFill>
            <a:prstDash val="solid"/>
          </a:ln>
          <a:effectLst>
            <a:outerShdw sx="100000" sy="100000" kx="0" ky="0" algn="bl" rotWithShape="0" blurRad="101600" dist="25400" dir="5400000">
              <a:srgbClr val="0B1F3A">
                <a:alpha val="10000"/>
              </a:srgbClr>
            </a:outerShdw>
          </a:effectLst>
        </p:spPr>
      </p:sp>
      <p:sp>
        <p:nvSpPr>
          <p:cNvPr id="14" name="Text 12"/>
          <p:cNvSpPr txBox="1"/>
          <p:nvPr/>
        </p:nvSpPr>
        <p:spPr>
          <a:xfrm>
            <a:off x="548640" y="1353312"/>
            <a:ext cx="1645920" cy="256032"/>
          </a:xfrm>
          <a:prstGeom prst="rect">
            <a:avLst/>
          </a:prstGeom>
          <a:noFill/>
          <a:ln/>
        </p:spPr>
        <p:txBody>
          <a:bodyPr wrap="square" lIns="0" tIns="0" rIns="0" bIns="0" rtlCol="0" anchor="t"/>
          <a:lstStyle/>
          <a:p>
            <a:pPr algn="ctr" indent="0" marL="0">
              <a:buNone/>
            </a:pPr>
            <a:r>
              <a:rPr lang="en-US" sz="1250" b="1" dirty="0">
                <a:solidFill>
                  <a:srgbClr val="0B1F3A"/>
                </a:solidFill>
                <a:latin typeface="Calibri" pitchFamily="34" charset="0"/>
                <a:ea typeface="Calibri" pitchFamily="34" charset="-122"/>
                <a:cs typeface="Calibri" pitchFamily="34" charset="-120"/>
              </a:rPr>
              <a:t>DimLoan</a:t>
            </a:r>
            <a:endParaRPr lang="en-US" sz="1250" dirty="0"/>
          </a:p>
        </p:txBody>
      </p:sp>
      <p:sp>
        <p:nvSpPr>
          <p:cNvPr id="15" name="Text 13"/>
          <p:cNvSpPr txBox="1"/>
          <p:nvPr/>
        </p:nvSpPr>
        <p:spPr>
          <a:xfrm>
            <a:off x="548640" y="1609344"/>
            <a:ext cx="1645920" cy="182880"/>
          </a:xfrm>
          <a:prstGeom prst="rect">
            <a:avLst/>
          </a:prstGeom>
          <a:noFill/>
          <a:ln/>
        </p:spPr>
        <p:txBody>
          <a:bodyPr wrap="square" lIns="0" tIns="0" rIns="0" bIns="0" rtlCol="0" anchor="t"/>
          <a:lstStyle/>
          <a:p>
            <a:pPr algn="ctr" indent="0" marL="0">
              <a:buNone/>
            </a:pPr>
            <a:r>
              <a:rPr lang="en-US" sz="950" dirty="0">
                <a:solidFill>
                  <a:srgbClr val="7A8799"/>
                </a:solidFill>
                <a:latin typeface="Calibri" pitchFamily="34" charset="0"/>
                <a:ea typeface="Calibri" pitchFamily="34" charset="-122"/>
                <a:cs typeface="Calibri" pitchFamily="34" charset="-120"/>
              </a:rPr>
              <a:t>Dimension</a:t>
            </a:r>
            <a:endParaRPr lang="en-US" sz="950" dirty="0"/>
          </a:p>
        </p:txBody>
      </p:sp>
      <p:sp>
        <p:nvSpPr>
          <p:cNvPr id="16" name="Shape 14"/>
          <p:cNvSpPr/>
          <p:nvPr/>
        </p:nvSpPr>
        <p:spPr>
          <a:xfrm>
            <a:off x="4206240" y="1280160"/>
            <a:ext cx="1645920" cy="566928"/>
          </a:xfrm>
          <a:prstGeom prst="roundRect">
            <a:avLst>
              <a:gd name="adj" fmla="val 12903"/>
            </a:avLst>
          </a:prstGeom>
          <a:solidFill>
            <a:srgbClr val="FFFFFF"/>
          </a:solidFill>
          <a:ln w="19050">
            <a:solidFill>
              <a:srgbClr val="0B1F3A"/>
            </a:solidFill>
            <a:prstDash val="solid"/>
          </a:ln>
          <a:effectLst>
            <a:outerShdw sx="100000" sy="100000" kx="0" ky="0" algn="bl" rotWithShape="0" blurRad="101600" dist="25400" dir="5400000">
              <a:srgbClr val="0B1F3A">
                <a:alpha val="10000"/>
              </a:srgbClr>
            </a:outerShdw>
          </a:effectLst>
        </p:spPr>
      </p:sp>
      <p:sp>
        <p:nvSpPr>
          <p:cNvPr id="17" name="Text 15"/>
          <p:cNvSpPr txBox="1"/>
          <p:nvPr/>
        </p:nvSpPr>
        <p:spPr>
          <a:xfrm>
            <a:off x="4206240" y="1353312"/>
            <a:ext cx="1645920" cy="256032"/>
          </a:xfrm>
          <a:prstGeom prst="rect">
            <a:avLst/>
          </a:prstGeom>
          <a:noFill/>
          <a:ln/>
        </p:spPr>
        <p:txBody>
          <a:bodyPr wrap="square" lIns="0" tIns="0" rIns="0" bIns="0" rtlCol="0" anchor="t"/>
          <a:lstStyle/>
          <a:p>
            <a:pPr algn="ctr" indent="0" marL="0">
              <a:buNone/>
            </a:pPr>
            <a:r>
              <a:rPr lang="en-US" sz="1250" b="1" dirty="0">
                <a:solidFill>
                  <a:srgbClr val="0B1F3A"/>
                </a:solidFill>
                <a:latin typeface="Calibri" pitchFamily="34" charset="0"/>
                <a:ea typeface="Calibri" pitchFamily="34" charset="-122"/>
                <a:cs typeface="Calibri" pitchFamily="34" charset="-120"/>
              </a:rPr>
              <a:t>DimBorrower</a:t>
            </a:r>
            <a:endParaRPr lang="en-US" sz="1250" dirty="0"/>
          </a:p>
        </p:txBody>
      </p:sp>
      <p:sp>
        <p:nvSpPr>
          <p:cNvPr id="18" name="Text 16"/>
          <p:cNvSpPr txBox="1"/>
          <p:nvPr/>
        </p:nvSpPr>
        <p:spPr>
          <a:xfrm>
            <a:off x="4206240" y="1609344"/>
            <a:ext cx="1645920" cy="182880"/>
          </a:xfrm>
          <a:prstGeom prst="rect">
            <a:avLst/>
          </a:prstGeom>
          <a:noFill/>
          <a:ln/>
        </p:spPr>
        <p:txBody>
          <a:bodyPr wrap="square" lIns="0" tIns="0" rIns="0" bIns="0" rtlCol="0" anchor="t"/>
          <a:lstStyle/>
          <a:p>
            <a:pPr algn="ctr" indent="0" marL="0">
              <a:buNone/>
            </a:pPr>
            <a:r>
              <a:rPr lang="en-US" sz="950" dirty="0">
                <a:solidFill>
                  <a:srgbClr val="7A8799"/>
                </a:solidFill>
                <a:latin typeface="Calibri" pitchFamily="34" charset="0"/>
                <a:ea typeface="Calibri" pitchFamily="34" charset="-122"/>
                <a:cs typeface="Calibri" pitchFamily="34" charset="-120"/>
              </a:rPr>
              <a:t>Dimension</a:t>
            </a:r>
            <a:endParaRPr lang="en-US" sz="950" dirty="0"/>
          </a:p>
        </p:txBody>
      </p:sp>
      <p:sp>
        <p:nvSpPr>
          <p:cNvPr id="19" name="Shape 17"/>
          <p:cNvSpPr/>
          <p:nvPr/>
        </p:nvSpPr>
        <p:spPr>
          <a:xfrm>
            <a:off x="548640" y="3474720"/>
            <a:ext cx="1645920" cy="566928"/>
          </a:xfrm>
          <a:prstGeom prst="roundRect">
            <a:avLst>
              <a:gd name="adj" fmla="val 12903"/>
            </a:avLst>
          </a:prstGeom>
          <a:solidFill>
            <a:srgbClr val="FFFFFF"/>
          </a:solidFill>
          <a:ln w="19050">
            <a:solidFill>
              <a:srgbClr val="0B1F3A"/>
            </a:solidFill>
            <a:prstDash val="solid"/>
          </a:ln>
          <a:effectLst>
            <a:outerShdw sx="100000" sy="100000" kx="0" ky="0" algn="bl" rotWithShape="0" blurRad="101600" dist="25400" dir="5400000">
              <a:srgbClr val="0B1F3A">
                <a:alpha val="10000"/>
              </a:srgbClr>
            </a:outerShdw>
          </a:effectLst>
        </p:spPr>
      </p:sp>
      <p:sp>
        <p:nvSpPr>
          <p:cNvPr id="20" name="Text 18"/>
          <p:cNvSpPr txBox="1"/>
          <p:nvPr/>
        </p:nvSpPr>
        <p:spPr>
          <a:xfrm>
            <a:off x="548640" y="3547872"/>
            <a:ext cx="1645920" cy="256032"/>
          </a:xfrm>
          <a:prstGeom prst="rect">
            <a:avLst/>
          </a:prstGeom>
          <a:noFill/>
          <a:ln/>
        </p:spPr>
        <p:txBody>
          <a:bodyPr wrap="square" lIns="0" tIns="0" rIns="0" bIns="0" rtlCol="0" anchor="t"/>
          <a:lstStyle/>
          <a:p>
            <a:pPr algn="ctr" indent="0" marL="0">
              <a:buNone/>
            </a:pPr>
            <a:r>
              <a:rPr lang="en-US" sz="1250" b="1" dirty="0">
                <a:solidFill>
                  <a:srgbClr val="0B1F3A"/>
                </a:solidFill>
                <a:latin typeface="Calibri" pitchFamily="34" charset="0"/>
                <a:ea typeface="Calibri" pitchFamily="34" charset="-122"/>
                <a:cs typeface="Calibri" pitchFamily="34" charset="-120"/>
              </a:rPr>
              <a:t>DimVehicle</a:t>
            </a:r>
            <a:endParaRPr lang="en-US" sz="1250" dirty="0"/>
          </a:p>
        </p:txBody>
      </p:sp>
      <p:sp>
        <p:nvSpPr>
          <p:cNvPr id="21" name="Text 19"/>
          <p:cNvSpPr txBox="1"/>
          <p:nvPr/>
        </p:nvSpPr>
        <p:spPr>
          <a:xfrm>
            <a:off x="548640" y="3803904"/>
            <a:ext cx="1645920" cy="182880"/>
          </a:xfrm>
          <a:prstGeom prst="rect">
            <a:avLst/>
          </a:prstGeom>
          <a:noFill/>
          <a:ln/>
        </p:spPr>
        <p:txBody>
          <a:bodyPr wrap="square" lIns="0" tIns="0" rIns="0" bIns="0" rtlCol="0" anchor="t"/>
          <a:lstStyle/>
          <a:p>
            <a:pPr algn="ctr" indent="0" marL="0">
              <a:buNone/>
            </a:pPr>
            <a:r>
              <a:rPr lang="en-US" sz="950" dirty="0">
                <a:solidFill>
                  <a:srgbClr val="7A8799"/>
                </a:solidFill>
                <a:latin typeface="Calibri" pitchFamily="34" charset="0"/>
                <a:ea typeface="Calibri" pitchFamily="34" charset="-122"/>
                <a:cs typeface="Calibri" pitchFamily="34" charset="-120"/>
              </a:rPr>
              <a:t>Dimension</a:t>
            </a:r>
            <a:endParaRPr lang="en-US" sz="950" dirty="0"/>
          </a:p>
        </p:txBody>
      </p:sp>
      <p:sp>
        <p:nvSpPr>
          <p:cNvPr id="22" name="Shape 20"/>
          <p:cNvSpPr/>
          <p:nvPr/>
        </p:nvSpPr>
        <p:spPr>
          <a:xfrm>
            <a:off x="4206240" y="3474720"/>
            <a:ext cx="1645920" cy="566928"/>
          </a:xfrm>
          <a:prstGeom prst="roundRect">
            <a:avLst>
              <a:gd name="adj" fmla="val 12903"/>
            </a:avLst>
          </a:prstGeom>
          <a:solidFill>
            <a:srgbClr val="FFFFFF"/>
          </a:solidFill>
          <a:ln w="19050">
            <a:solidFill>
              <a:srgbClr val="0B1F3A"/>
            </a:solidFill>
            <a:prstDash val="solid"/>
          </a:ln>
          <a:effectLst>
            <a:outerShdw sx="100000" sy="100000" kx="0" ky="0" algn="bl" rotWithShape="0" blurRad="101600" dist="25400" dir="5400000">
              <a:srgbClr val="0B1F3A">
                <a:alpha val="10000"/>
              </a:srgbClr>
            </a:outerShdw>
          </a:effectLst>
        </p:spPr>
      </p:sp>
      <p:sp>
        <p:nvSpPr>
          <p:cNvPr id="23" name="Text 21"/>
          <p:cNvSpPr txBox="1"/>
          <p:nvPr/>
        </p:nvSpPr>
        <p:spPr>
          <a:xfrm>
            <a:off x="4206240" y="3547872"/>
            <a:ext cx="1645920" cy="256032"/>
          </a:xfrm>
          <a:prstGeom prst="rect">
            <a:avLst/>
          </a:prstGeom>
          <a:noFill/>
          <a:ln/>
        </p:spPr>
        <p:txBody>
          <a:bodyPr wrap="square" lIns="0" tIns="0" rIns="0" bIns="0" rtlCol="0" anchor="t"/>
          <a:lstStyle/>
          <a:p>
            <a:pPr algn="ctr" indent="0" marL="0">
              <a:buNone/>
            </a:pPr>
            <a:r>
              <a:rPr lang="en-US" sz="1250" b="1" dirty="0">
                <a:solidFill>
                  <a:srgbClr val="0B1F3A"/>
                </a:solidFill>
                <a:latin typeface="Calibri" pitchFamily="34" charset="0"/>
                <a:ea typeface="Calibri" pitchFamily="34" charset="-122"/>
                <a:cs typeface="Calibri" pitchFamily="34" charset="-120"/>
              </a:rPr>
              <a:t>DimDate</a:t>
            </a:r>
            <a:endParaRPr lang="en-US" sz="1250" dirty="0"/>
          </a:p>
        </p:txBody>
      </p:sp>
      <p:sp>
        <p:nvSpPr>
          <p:cNvPr id="24" name="Text 22"/>
          <p:cNvSpPr txBox="1"/>
          <p:nvPr/>
        </p:nvSpPr>
        <p:spPr>
          <a:xfrm>
            <a:off x="4206240" y="3803904"/>
            <a:ext cx="1645920" cy="182880"/>
          </a:xfrm>
          <a:prstGeom prst="rect">
            <a:avLst/>
          </a:prstGeom>
          <a:noFill/>
          <a:ln/>
        </p:spPr>
        <p:txBody>
          <a:bodyPr wrap="square" lIns="0" tIns="0" rIns="0" bIns="0" rtlCol="0" anchor="t"/>
          <a:lstStyle/>
          <a:p>
            <a:pPr algn="ctr" indent="0" marL="0">
              <a:buNone/>
            </a:pPr>
            <a:r>
              <a:rPr lang="en-US" sz="950" dirty="0">
                <a:solidFill>
                  <a:srgbClr val="7A8799"/>
                </a:solidFill>
                <a:latin typeface="Calibri" pitchFamily="34" charset="0"/>
                <a:ea typeface="Calibri" pitchFamily="34" charset="-122"/>
                <a:cs typeface="Calibri" pitchFamily="34" charset="-120"/>
              </a:rPr>
              <a:t>Dimension</a:t>
            </a:r>
            <a:endParaRPr lang="en-US" sz="950" dirty="0"/>
          </a:p>
        </p:txBody>
      </p:sp>
      <p:sp>
        <p:nvSpPr>
          <p:cNvPr id="25" name="Shape 23"/>
          <p:cNvSpPr/>
          <p:nvPr/>
        </p:nvSpPr>
        <p:spPr>
          <a:xfrm>
            <a:off x="2194560" y="2240280"/>
            <a:ext cx="2011680" cy="822960"/>
          </a:xfrm>
          <a:prstGeom prst="roundRect">
            <a:avLst>
              <a:gd name="adj" fmla="val 8889"/>
            </a:avLst>
          </a:prstGeom>
          <a:solidFill>
            <a:srgbClr val="0B1F3A"/>
          </a:solidFill>
          <a:ln w="12700">
            <a:solidFill>
              <a:srgbClr val="0B1F3A"/>
            </a:solidFill>
            <a:prstDash val="solid"/>
          </a:ln>
          <a:effectLst>
            <a:outerShdw sx="100000" sy="100000" kx="0" ky="0" algn="bl" rotWithShape="0" blurRad="101600" dist="25400" dir="5400000">
              <a:srgbClr val="0B1F3A">
                <a:alpha val="10000"/>
              </a:srgbClr>
            </a:outerShdw>
          </a:effectLst>
        </p:spPr>
      </p:sp>
      <p:sp>
        <p:nvSpPr>
          <p:cNvPr id="26" name="Text 24"/>
          <p:cNvSpPr txBox="1"/>
          <p:nvPr/>
        </p:nvSpPr>
        <p:spPr>
          <a:xfrm>
            <a:off x="2194560" y="2331720"/>
            <a:ext cx="2011680" cy="256032"/>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Loan-level fact table</a:t>
            </a:r>
            <a:endParaRPr lang="en-US" sz="1250" dirty="0"/>
          </a:p>
        </p:txBody>
      </p:sp>
      <p:sp>
        <p:nvSpPr>
          <p:cNvPr id="27" name="Text 25"/>
          <p:cNvSpPr txBox="1"/>
          <p:nvPr/>
        </p:nvSpPr>
        <p:spPr>
          <a:xfrm>
            <a:off x="2194560" y="2624328"/>
            <a:ext cx="2011680" cy="274320"/>
          </a:xfrm>
          <a:prstGeom prst="rect">
            <a:avLst/>
          </a:prstGeom>
          <a:noFill/>
          <a:ln/>
        </p:spPr>
        <p:txBody>
          <a:bodyPr wrap="square" lIns="0" tIns="0" rIns="0" bIns="0" rtlCol="0" anchor="t"/>
          <a:lstStyle/>
          <a:p>
            <a:pPr algn="ctr" indent="0" marL="0">
              <a:buNone/>
            </a:pPr>
            <a:r>
              <a:rPr lang="en-US" sz="900" dirty="0">
                <a:solidFill>
                  <a:srgbClr val="7FB8F0"/>
                </a:solidFill>
                <a:latin typeface="Calibri" pitchFamily="34" charset="0"/>
                <a:ea typeface="Calibri" pitchFamily="34" charset="-122"/>
                <a:cs typeface="Calibri" pitchFamily="34" charset="-120"/>
              </a:rPr>
              <a:t>auto_loan_securitisation_data</a:t>
            </a:r>
            <a:endParaRPr lang="en-US" sz="900" dirty="0"/>
          </a:p>
        </p:txBody>
      </p:sp>
      <p:sp>
        <p:nvSpPr>
          <p:cNvPr id="28" name="Shape 26"/>
          <p:cNvSpPr/>
          <p:nvPr/>
        </p:nvSpPr>
        <p:spPr>
          <a:xfrm>
            <a:off x="457200" y="2304288"/>
            <a:ext cx="1463040" cy="694944"/>
          </a:xfrm>
          <a:prstGeom prst="roundRect">
            <a:avLst>
              <a:gd name="adj" fmla="val 10526"/>
            </a:avLst>
          </a:prstGeom>
          <a:solidFill>
            <a:srgbClr val="E6F0FB"/>
          </a:solidFill>
          <a:ln w="9525">
            <a:solidFill>
              <a:srgbClr val="BBD3F0"/>
            </a:solidFill>
            <a:prstDash val="solid"/>
          </a:ln>
        </p:spPr>
      </p:sp>
      <p:sp>
        <p:nvSpPr>
          <p:cNvPr id="29" name="Text 27"/>
          <p:cNvSpPr txBox="1"/>
          <p:nvPr/>
        </p:nvSpPr>
        <p:spPr>
          <a:xfrm>
            <a:off x="457200" y="2377440"/>
            <a:ext cx="1463040" cy="274320"/>
          </a:xfrm>
          <a:prstGeom prst="rect">
            <a:avLst/>
          </a:prstGeom>
          <a:noFill/>
          <a:ln/>
        </p:spPr>
        <p:txBody>
          <a:bodyPr wrap="square" lIns="0" tIns="0" rIns="0" bIns="0" rtlCol="0" anchor="t"/>
          <a:lstStyle/>
          <a:p>
            <a:pPr algn="ctr" indent="0" marL="0">
              <a:buNone/>
            </a:pPr>
            <a:r>
              <a:rPr lang="en-US" sz="900" b="1" dirty="0">
                <a:solidFill>
                  <a:srgbClr val="0B1F3A"/>
                </a:solidFill>
                <a:latin typeface="Calibri" pitchFamily="34" charset="0"/>
                <a:ea typeface="Calibri" pitchFamily="34" charset="-122"/>
                <a:cs typeface="Calibri" pitchFamily="34" charset="-120"/>
              </a:rPr>
              <a:t>dpd_snapshot_history</a:t>
            </a:r>
            <a:endParaRPr lang="en-US" sz="900" dirty="0"/>
          </a:p>
        </p:txBody>
      </p:sp>
      <p:sp>
        <p:nvSpPr>
          <p:cNvPr id="30" name="Text 28"/>
          <p:cNvSpPr txBox="1"/>
          <p:nvPr/>
        </p:nvSpPr>
        <p:spPr>
          <a:xfrm>
            <a:off x="457200" y="2651760"/>
            <a:ext cx="1463040" cy="274320"/>
          </a:xfrm>
          <a:prstGeom prst="rect">
            <a:avLst/>
          </a:prstGeom>
          <a:noFill/>
          <a:ln/>
        </p:spPr>
        <p:txBody>
          <a:bodyPr wrap="square" lIns="0" tIns="0" rIns="0" bIns="0" rtlCol="0" anchor="t"/>
          <a:lstStyle/>
          <a:p>
            <a:pPr algn="ctr" indent="0" marL="0">
              <a:buNone/>
            </a:pPr>
            <a:r>
              <a:rPr lang="en-US" sz="950" dirty="0">
                <a:solidFill>
                  <a:srgbClr val="4A5A70"/>
                </a:solidFill>
                <a:latin typeface="Calibri" pitchFamily="34" charset="0"/>
                <a:ea typeface="Calibri" pitchFamily="34" charset="-122"/>
                <a:cs typeface="Calibri" pitchFamily="34" charset="-120"/>
              </a:rPr>
              <a:t>Delinquency snapshots</a:t>
            </a:r>
            <a:endParaRPr lang="en-US" sz="950" dirty="0"/>
          </a:p>
        </p:txBody>
      </p:sp>
      <p:sp>
        <p:nvSpPr>
          <p:cNvPr id="31" name="Shape 29"/>
          <p:cNvSpPr/>
          <p:nvPr/>
        </p:nvSpPr>
        <p:spPr>
          <a:xfrm>
            <a:off x="4480560" y="2304288"/>
            <a:ext cx="1463040" cy="694944"/>
          </a:xfrm>
          <a:prstGeom prst="roundRect">
            <a:avLst>
              <a:gd name="adj" fmla="val 10526"/>
            </a:avLst>
          </a:prstGeom>
          <a:solidFill>
            <a:srgbClr val="E6F0FB"/>
          </a:solidFill>
          <a:ln w="9525">
            <a:solidFill>
              <a:srgbClr val="BBD3F0"/>
            </a:solidFill>
            <a:prstDash val="solid"/>
          </a:ln>
        </p:spPr>
      </p:sp>
      <p:sp>
        <p:nvSpPr>
          <p:cNvPr id="32" name="Text 30"/>
          <p:cNvSpPr txBox="1"/>
          <p:nvPr/>
        </p:nvSpPr>
        <p:spPr>
          <a:xfrm>
            <a:off x="4480560" y="2377440"/>
            <a:ext cx="1463040" cy="274320"/>
          </a:xfrm>
          <a:prstGeom prst="rect">
            <a:avLst/>
          </a:prstGeom>
          <a:noFill/>
          <a:ln/>
        </p:spPr>
        <p:txBody>
          <a:bodyPr wrap="square" lIns="0" tIns="0" rIns="0" bIns="0" rtlCol="0" anchor="t"/>
          <a:lstStyle/>
          <a:p>
            <a:pPr algn="ctr" indent="0" marL="0">
              <a:buNone/>
            </a:pPr>
            <a:r>
              <a:rPr lang="en-US" sz="900" b="1" dirty="0">
                <a:solidFill>
                  <a:srgbClr val="0B1F3A"/>
                </a:solidFill>
                <a:latin typeface="Calibri" pitchFamily="34" charset="0"/>
                <a:ea typeface="Calibri" pitchFamily="34" charset="-122"/>
                <a:cs typeface="Calibri" pitchFamily="34" charset="-120"/>
              </a:rPr>
              <a:t>static_pool_vintage_data</a:t>
            </a:r>
            <a:endParaRPr lang="en-US" sz="900" dirty="0"/>
          </a:p>
        </p:txBody>
      </p:sp>
      <p:sp>
        <p:nvSpPr>
          <p:cNvPr id="33" name="Text 31"/>
          <p:cNvSpPr txBox="1"/>
          <p:nvPr/>
        </p:nvSpPr>
        <p:spPr>
          <a:xfrm>
            <a:off x="4480560" y="2651760"/>
            <a:ext cx="1463040" cy="274320"/>
          </a:xfrm>
          <a:prstGeom prst="rect">
            <a:avLst/>
          </a:prstGeom>
          <a:noFill/>
          <a:ln/>
        </p:spPr>
        <p:txBody>
          <a:bodyPr wrap="square" lIns="0" tIns="0" rIns="0" bIns="0" rtlCol="0" anchor="t"/>
          <a:lstStyle/>
          <a:p>
            <a:pPr algn="ctr" indent="0" marL="0">
              <a:buNone/>
            </a:pPr>
            <a:r>
              <a:rPr lang="en-US" sz="950" dirty="0">
                <a:solidFill>
                  <a:srgbClr val="4A5A70"/>
                </a:solidFill>
                <a:latin typeface="Calibri" pitchFamily="34" charset="0"/>
                <a:ea typeface="Calibri" pitchFamily="34" charset="-122"/>
                <a:cs typeface="Calibri" pitchFamily="34" charset="-120"/>
              </a:rPr>
              <a:t>Vintage performance</a:t>
            </a:r>
            <a:endParaRPr lang="en-US" sz="950" dirty="0"/>
          </a:p>
        </p:txBody>
      </p:sp>
      <p:sp>
        <p:nvSpPr>
          <p:cNvPr id="34" name="Text 32"/>
          <p:cNvSpPr txBox="1"/>
          <p:nvPr/>
        </p:nvSpPr>
        <p:spPr>
          <a:xfrm>
            <a:off x="6309360" y="1280160"/>
            <a:ext cx="237744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STAR-SCHEMA-ORIENTED STRUCTURE</a:t>
            </a:r>
            <a:endParaRPr lang="en-US" sz="1000" dirty="0"/>
          </a:p>
        </p:txBody>
      </p:sp>
      <p:sp>
        <p:nvSpPr>
          <p:cNvPr id="35" name="Shape 33"/>
          <p:cNvSpPr/>
          <p:nvPr/>
        </p:nvSpPr>
        <p:spPr>
          <a:xfrm>
            <a:off x="6309360" y="1600200"/>
            <a:ext cx="365760" cy="365760"/>
          </a:xfrm>
          <a:prstGeom prst="ellipse">
            <a:avLst/>
          </a:prstGeom>
          <a:solidFill>
            <a:srgbClr val="0B1F3A"/>
          </a:solidFill>
          <a:ln w="12700">
            <a:solidFill>
              <a:srgbClr val="0B1F3A"/>
            </a:solidFill>
            <a:prstDash val="solid"/>
          </a:ln>
        </p:spPr>
      </p:sp>
      <p:pic>
        <p:nvPicPr>
          <p:cNvPr id="36" name="Image 0" descr="preencoded.png">    </p:cNvPr>
          <p:cNvPicPr>
            <a:picLocks noChangeAspect="1"/>
          </p:cNvPicPr>
          <p:nvPr/>
        </p:nvPicPr>
        <p:blipFill>
          <a:blip r:embed="rId1"/>
          <a:stretch>
            <a:fillRect/>
          </a:stretch>
        </p:blipFill>
        <p:spPr>
          <a:xfrm>
            <a:off x="6400800" y="1691640"/>
            <a:ext cx="182880" cy="182880"/>
          </a:xfrm>
          <a:prstGeom prst="rect">
            <a:avLst/>
          </a:prstGeom>
        </p:spPr>
      </p:pic>
      <p:sp>
        <p:nvSpPr>
          <p:cNvPr id="37" name="Text 34"/>
          <p:cNvSpPr txBox="1"/>
          <p:nvPr/>
        </p:nvSpPr>
        <p:spPr>
          <a:xfrm>
            <a:off x="6784848" y="1581912"/>
            <a:ext cx="1920240" cy="219456"/>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Simpler DAX</a:t>
            </a:r>
            <a:endParaRPr lang="en-US" sz="1200" dirty="0"/>
          </a:p>
        </p:txBody>
      </p:sp>
      <p:sp>
        <p:nvSpPr>
          <p:cNvPr id="38" name="Text 35"/>
          <p:cNvSpPr txBox="1"/>
          <p:nvPr/>
        </p:nvSpPr>
        <p:spPr>
          <a:xfrm>
            <a:off x="6784848" y="1819656"/>
            <a:ext cx="1920240" cy="64008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Dimensions hold descriptive attributes; loan-level data holds the measures.</a:t>
            </a:r>
            <a:endParaRPr lang="en-US" sz="1000" dirty="0"/>
          </a:p>
        </p:txBody>
      </p:sp>
      <p:sp>
        <p:nvSpPr>
          <p:cNvPr id="39" name="Shape 36"/>
          <p:cNvSpPr/>
          <p:nvPr/>
        </p:nvSpPr>
        <p:spPr>
          <a:xfrm>
            <a:off x="6309360" y="2514600"/>
            <a:ext cx="365760" cy="365760"/>
          </a:xfrm>
          <a:prstGeom prst="ellipse">
            <a:avLst/>
          </a:prstGeom>
          <a:solidFill>
            <a:srgbClr val="0B1F3A"/>
          </a:solidFill>
          <a:ln w="12700">
            <a:solidFill>
              <a:srgbClr val="0B1F3A"/>
            </a:solidFill>
            <a:prstDash val="solid"/>
          </a:ln>
        </p:spPr>
      </p:sp>
      <p:pic>
        <p:nvPicPr>
          <p:cNvPr id="40" name="Image 1" descr="preencoded.png">    </p:cNvPr>
          <p:cNvPicPr>
            <a:picLocks noChangeAspect="1"/>
          </p:cNvPicPr>
          <p:nvPr/>
        </p:nvPicPr>
        <p:blipFill>
          <a:blip r:embed="rId2"/>
          <a:stretch>
            <a:fillRect/>
          </a:stretch>
        </p:blipFill>
        <p:spPr>
          <a:xfrm>
            <a:off x="6400800" y="2606040"/>
            <a:ext cx="182880" cy="182880"/>
          </a:xfrm>
          <a:prstGeom prst="rect">
            <a:avLst/>
          </a:prstGeom>
        </p:spPr>
      </p:pic>
      <p:sp>
        <p:nvSpPr>
          <p:cNvPr id="41" name="Text 37"/>
          <p:cNvSpPr txBox="1"/>
          <p:nvPr/>
        </p:nvSpPr>
        <p:spPr>
          <a:xfrm>
            <a:off x="6784848" y="2496312"/>
            <a:ext cx="1920240" cy="219456"/>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Faster analysis</a:t>
            </a:r>
            <a:endParaRPr lang="en-US" sz="1200" dirty="0"/>
          </a:p>
        </p:txBody>
      </p:sp>
      <p:sp>
        <p:nvSpPr>
          <p:cNvPr id="42" name="Text 38"/>
          <p:cNvSpPr txBox="1"/>
          <p:nvPr/>
        </p:nvSpPr>
        <p:spPr>
          <a:xfrm>
            <a:off x="6784848" y="2734056"/>
            <a:ext cx="1920240" cy="64008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Improves analytical performance and keeps a consistent structure.</a:t>
            </a:r>
            <a:endParaRPr lang="en-US" sz="1000" dirty="0"/>
          </a:p>
        </p:txBody>
      </p:sp>
      <p:sp>
        <p:nvSpPr>
          <p:cNvPr id="43" name="Shape 39"/>
          <p:cNvSpPr/>
          <p:nvPr/>
        </p:nvSpPr>
        <p:spPr>
          <a:xfrm>
            <a:off x="6309360" y="3429000"/>
            <a:ext cx="365760" cy="365760"/>
          </a:xfrm>
          <a:prstGeom prst="ellipse">
            <a:avLst/>
          </a:prstGeom>
          <a:solidFill>
            <a:srgbClr val="0B1F3A"/>
          </a:solidFill>
          <a:ln w="12700">
            <a:solidFill>
              <a:srgbClr val="0B1F3A"/>
            </a:solidFill>
            <a:prstDash val="solid"/>
          </a:ln>
        </p:spPr>
      </p:sp>
      <p:pic>
        <p:nvPicPr>
          <p:cNvPr id="44" name="Image 2" descr="preencoded.png">    </p:cNvPr>
          <p:cNvPicPr>
            <a:picLocks noChangeAspect="1"/>
          </p:cNvPicPr>
          <p:nvPr/>
        </p:nvPicPr>
        <p:blipFill>
          <a:blip r:embed="rId3"/>
          <a:stretch>
            <a:fillRect/>
          </a:stretch>
        </p:blipFill>
        <p:spPr>
          <a:xfrm>
            <a:off x="6400800" y="3520440"/>
            <a:ext cx="182880" cy="182880"/>
          </a:xfrm>
          <a:prstGeom prst="rect">
            <a:avLst/>
          </a:prstGeom>
        </p:spPr>
      </p:pic>
      <p:sp>
        <p:nvSpPr>
          <p:cNvPr id="45" name="Text 40"/>
          <p:cNvSpPr txBox="1"/>
          <p:nvPr/>
        </p:nvSpPr>
        <p:spPr>
          <a:xfrm>
            <a:off x="6784848" y="3410712"/>
            <a:ext cx="1920240" cy="219456"/>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Time intelligence</a:t>
            </a:r>
            <a:endParaRPr lang="en-US" sz="1200" dirty="0"/>
          </a:p>
        </p:txBody>
      </p:sp>
      <p:sp>
        <p:nvSpPr>
          <p:cNvPr id="46" name="Text 41"/>
          <p:cNvSpPr txBox="1"/>
          <p:nvPr/>
        </p:nvSpPr>
        <p:spPr>
          <a:xfrm>
            <a:off x="6784848" y="3648456"/>
            <a:ext cx="1920240" cy="64008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DimDate supports monthly trends, rolling-period and YTD analysis.</a:t>
            </a:r>
            <a:endParaRPr lang="en-US" sz="1000" dirty="0"/>
          </a:p>
        </p:txBody>
      </p:sp>
      <p:sp>
        <p:nvSpPr>
          <p:cNvPr id="47" name="Shape 42"/>
          <p:cNvSpPr/>
          <p:nvPr/>
        </p:nvSpPr>
        <p:spPr>
          <a:xfrm>
            <a:off x="457200" y="4224528"/>
            <a:ext cx="8229600" cy="438912"/>
          </a:xfrm>
          <a:prstGeom prst="roundRect">
            <a:avLst>
              <a:gd name="adj" fmla="val 16667"/>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48" name="Shape 43"/>
          <p:cNvSpPr/>
          <p:nvPr/>
        </p:nvSpPr>
        <p:spPr>
          <a:xfrm>
            <a:off x="566928" y="4279392"/>
            <a:ext cx="329184" cy="329184"/>
          </a:xfrm>
          <a:prstGeom prst="ellipse">
            <a:avLst/>
          </a:prstGeom>
          <a:solidFill>
            <a:srgbClr val="1F5FBF"/>
          </a:solidFill>
          <a:ln w="12700">
            <a:solidFill>
              <a:srgbClr val="1F5FBF"/>
            </a:solidFill>
            <a:prstDash val="solid"/>
          </a:ln>
        </p:spPr>
      </p:sp>
      <p:pic>
        <p:nvPicPr>
          <p:cNvPr id="49" name="Image 3" descr="preencoded.png">    </p:cNvPr>
          <p:cNvPicPr>
            <a:picLocks noChangeAspect="1"/>
          </p:cNvPicPr>
          <p:nvPr/>
        </p:nvPicPr>
        <p:blipFill>
          <a:blip r:embed="rId4"/>
          <a:stretch>
            <a:fillRect/>
          </a:stretch>
        </p:blipFill>
        <p:spPr>
          <a:xfrm>
            <a:off x="649224" y="4361688"/>
            <a:ext cx="164592" cy="164592"/>
          </a:xfrm>
          <a:prstGeom prst="rect">
            <a:avLst/>
          </a:prstGeom>
        </p:spPr>
      </p:pic>
      <p:sp>
        <p:nvSpPr>
          <p:cNvPr id="50" name="Text 44"/>
          <p:cNvSpPr txBox="1"/>
          <p:nvPr/>
        </p:nvSpPr>
        <p:spPr>
          <a:xfrm>
            <a:off x="1005840" y="4224528"/>
            <a:ext cx="7589520" cy="438912"/>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Data source: </a:t>
            </a:r>
            <a:pPr indent="0" marL="0">
              <a:buNone/>
            </a:pPr>
            <a:r>
              <a:rPr lang="en-US" sz="1050" dirty="0">
                <a:solidFill>
                  <a:srgbClr val="4A5A70"/>
                </a:solidFill>
                <a:latin typeface="Calibri" pitchFamily="34" charset="0"/>
                <a:ea typeface="Calibri" pitchFamily="34" charset="-122"/>
                <a:cs typeface="Calibri" pitchFamily="34" charset="-120"/>
              </a:rPr>
              <a:t>Auto-Loan Securitisation Portfolio Dataset  ·  500 loans, 32 fields  ·  reporting date 31 Oct 2024</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03  ·  PERFORMANCE</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Portfolio Performance Analysis</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4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loan data tape (pool ZAAUTO2024-1, 500 loans, reporting date 31 Oct 2024). Amounts in INR.</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80160"/>
            <a:ext cx="1325880" cy="1188720"/>
          </a:xfrm>
          <a:prstGeom prst="roundRect">
            <a:avLst>
              <a:gd name="adj" fmla="val 6154"/>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8" name="Text 6"/>
          <p:cNvSpPr txBox="1"/>
          <p:nvPr/>
        </p:nvSpPr>
        <p:spPr>
          <a:xfrm>
            <a:off x="566928" y="140817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TOTAL LOANS</a:t>
            </a:r>
            <a:endParaRPr lang="en-US" sz="900" dirty="0"/>
          </a:p>
        </p:txBody>
      </p:sp>
      <p:sp>
        <p:nvSpPr>
          <p:cNvPr id="9" name="Text 7"/>
          <p:cNvSpPr txBox="1"/>
          <p:nvPr/>
        </p:nvSpPr>
        <p:spPr>
          <a:xfrm>
            <a:off x="566928" y="1719072"/>
            <a:ext cx="118872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500</a:t>
            </a:r>
            <a:endParaRPr lang="en-US" sz="1900" dirty="0"/>
          </a:p>
        </p:txBody>
      </p:sp>
      <p:sp>
        <p:nvSpPr>
          <p:cNvPr id="10" name="Text 8"/>
          <p:cNvSpPr txBox="1"/>
          <p:nvPr/>
        </p:nvSpPr>
        <p:spPr>
          <a:xfrm>
            <a:off x="566928" y="214884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Distinct LoanID</a:t>
            </a:r>
            <a:endParaRPr lang="en-US" sz="900" dirty="0"/>
          </a:p>
        </p:txBody>
      </p:sp>
      <p:sp>
        <p:nvSpPr>
          <p:cNvPr id="11" name="Shape 9"/>
          <p:cNvSpPr/>
          <p:nvPr/>
        </p:nvSpPr>
        <p:spPr>
          <a:xfrm>
            <a:off x="1897380" y="1280160"/>
            <a:ext cx="1325880" cy="1188720"/>
          </a:xfrm>
          <a:prstGeom prst="roundRect">
            <a:avLst>
              <a:gd name="adj" fmla="val 6154"/>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2" name="Text 10"/>
          <p:cNvSpPr txBox="1"/>
          <p:nvPr/>
        </p:nvSpPr>
        <p:spPr>
          <a:xfrm>
            <a:off x="2007108" y="140817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ORIGINAL BALANCE</a:t>
            </a:r>
            <a:endParaRPr lang="en-US" sz="900" dirty="0"/>
          </a:p>
        </p:txBody>
      </p:sp>
      <p:sp>
        <p:nvSpPr>
          <p:cNvPr id="13" name="Text 11"/>
          <p:cNvSpPr txBox="1"/>
          <p:nvPr/>
        </p:nvSpPr>
        <p:spPr>
          <a:xfrm>
            <a:off x="2007108" y="1719072"/>
            <a:ext cx="118872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₹546.07M</a:t>
            </a:r>
            <a:endParaRPr lang="en-US" sz="1900" dirty="0"/>
          </a:p>
        </p:txBody>
      </p:sp>
      <p:sp>
        <p:nvSpPr>
          <p:cNvPr id="14" name="Text 12"/>
          <p:cNvSpPr txBox="1"/>
          <p:nvPr/>
        </p:nvSpPr>
        <p:spPr>
          <a:xfrm>
            <a:off x="2007108" y="214884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Σ OriginalLoanAmount</a:t>
            </a:r>
            <a:endParaRPr lang="en-US" sz="900" dirty="0"/>
          </a:p>
        </p:txBody>
      </p:sp>
      <p:sp>
        <p:nvSpPr>
          <p:cNvPr id="15" name="Shape 13"/>
          <p:cNvSpPr/>
          <p:nvPr/>
        </p:nvSpPr>
        <p:spPr>
          <a:xfrm>
            <a:off x="3337560" y="1280160"/>
            <a:ext cx="1325880" cy="1188720"/>
          </a:xfrm>
          <a:prstGeom prst="roundRect">
            <a:avLst>
              <a:gd name="adj" fmla="val 6154"/>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6" name="Text 14"/>
          <p:cNvSpPr txBox="1"/>
          <p:nvPr/>
        </p:nvSpPr>
        <p:spPr>
          <a:xfrm>
            <a:off x="3447288" y="140817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TOTAL OUTSTANDING</a:t>
            </a:r>
            <a:endParaRPr lang="en-US" sz="900" dirty="0"/>
          </a:p>
        </p:txBody>
      </p:sp>
      <p:sp>
        <p:nvSpPr>
          <p:cNvPr id="17" name="Text 15"/>
          <p:cNvSpPr txBox="1"/>
          <p:nvPr/>
        </p:nvSpPr>
        <p:spPr>
          <a:xfrm>
            <a:off x="3447288" y="1719072"/>
            <a:ext cx="118872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₹317.79M</a:t>
            </a:r>
            <a:endParaRPr lang="en-US" sz="1900" dirty="0"/>
          </a:p>
        </p:txBody>
      </p:sp>
      <p:sp>
        <p:nvSpPr>
          <p:cNvPr id="18" name="Text 16"/>
          <p:cNvSpPr txBox="1"/>
          <p:nvPr/>
        </p:nvSpPr>
        <p:spPr>
          <a:xfrm>
            <a:off x="3447288" y="214884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Σ CurrentBalance</a:t>
            </a:r>
            <a:endParaRPr lang="en-US" sz="900" dirty="0"/>
          </a:p>
        </p:txBody>
      </p:sp>
      <p:sp>
        <p:nvSpPr>
          <p:cNvPr id="19" name="Shape 17"/>
          <p:cNvSpPr/>
          <p:nvPr/>
        </p:nvSpPr>
        <p:spPr>
          <a:xfrm>
            <a:off x="457200" y="2606040"/>
            <a:ext cx="1325880" cy="1188720"/>
          </a:xfrm>
          <a:prstGeom prst="roundRect">
            <a:avLst>
              <a:gd name="adj" fmla="val 6154"/>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0" name="Text 18"/>
          <p:cNvSpPr txBox="1"/>
          <p:nvPr/>
        </p:nvSpPr>
        <p:spPr>
          <a:xfrm>
            <a:off x="566928" y="273405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COLLECTIONS</a:t>
            </a:r>
            <a:endParaRPr lang="en-US" sz="900" dirty="0"/>
          </a:p>
        </p:txBody>
      </p:sp>
      <p:sp>
        <p:nvSpPr>
          <p:cNvPr id="21" name="Text 19"/>
          <p:cNvSpPr txBox="1"/>
          <p:nvPr/>
        </p:nvSpPr>
        <p:spPr>
          <a:xfrm>
            <a:off x="566928" y="3044952"/>
            <a:ext cx="118872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₹11.15M</a:t>
            </a:r>
            <a:endParaRPr lang="en-US" sz="1900" dirty="0"/>
          </a:p>
        </p:txBody>
      </p:sp>
      <p:sp>
        <p:nvSpPr>
          <p:cNvPr id="22" name="Text 20"/>
          <p:cNvSpPr txBox="1"/>
          <p:nvPr/>
        </p:nvSpPr>
        <p:spPr>
          <a:xfrm>
            <a:off x="566928" y="347472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Σ LastPaymentAmount</a:t>
            </a:r>
            <a:endParaRPr lang="en-US" sz="900" dirty="0"/>
          </a:p>
        </p:txBody>
      </p:sp>
      <p:sp>
        <p:nvSpPr>
          <p:cNvPr id="23" name="Shape 21"/>
          <p:cNvSpPr/>
          <p:nvPr/>
        </p:nvSpPr>
        <p:spPr>
          <a:xfrm>
            <a:off x="1897380" y="2606040"/>
            <a:ext cx="1325880" cy="1188720"/>
          </a:xfrm>
          <a:prstGeom prst="roundRect">
            <a:avLst>
              <a:gd name="adj" fmla="val 6154"/>
            </a:avLst>
          </a:prstGeom>
          <a:solidFill>
            <a:srgbClr val="FFFFFF"/>
          </a:solidFill>
          <a:ln w="15875">
            <a:solidFill>
              <a:srgbClr val="118DFF"/>
            </a:solidFill>
            <a:prstDash val="solid"/>
          </a:ln>
        </p:spPr>
      </p:sp>
      <p:sp>
        <p:nvSpPr>
          <p:cNvPr id="24" name="Text 22"/>
          <p:cNvSpPr txBox="1"/>
          <p:nvPr/>
        </p:nvSpPr>
        <p:spPr>
          <a:xfrm>
            <a:off x="2007108" y="273405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NET LOSS</a:t>
            </a:r>
            <a:endParaRPr lang="en-US" sz="900" dirty="0"/>
          </a:p>
        </p:txBody>
      </p:sp>
      <p:sp>
        <p:nvSpPr>
          <p:cNvPr id="25" name="Text 23"/>
          <p:cNvSpPr txBox="1"/>
          <p:nvPr/>
        </p:nvSpPr>
        <p:spPr>
          <a:xfrm>
            <a:off x="2007108" y="3044952"/>
            <a:ext cx="1143000" cy="411480"/>
          </a:xfrm>
          <a:prstGeom prst="rect">
            <a:avLst/>
          </a:prstGeom>
          <a:noFill/>
          <a:ln/>
        </p:spPr>
        <p:txBody>
          <a:bodyPr wrap="square" lIns="0" tIns="0" rIns="0" bIns="0" rtlCol="0" anchor="t"/>
          <a:lstStyle/>
          <a:p>
            <a:pPr indent="0" marL="0">
              <a:buNone/>
            </a:pPr>
            <a:r>
              <a:rPr lang="en-US" sz="1200" b="1" dirty="0">
                <a:solidFill>
                  <a:srgbClr val="118DFF"/>
                </a:solidFill>
                <a:latin typeface="Calibri" pitchFamily="34" charset="0"/>
                <a:ea typeface="Calibri" pitchFamily="34" charset="-122"/>
                <a:cs typeface="Calibri" pitchFamily="34" charset="-120"/>
              </a:rPr>
              <a:t>Tracked on dashboard</a:t>
            </a:r>
            <a:endParaRPr lang="en-US" sz="1200" dirty="0"/>
          </a:p>
        </p:txBody>
      </p:sp>
      <p:sp>
        <p:nvSpPr>
          <p:cNvPr id="26" name="Text 24"/>
          <p:cNvSpPr txBox="1"/>
          <p:nvPr/>
        </p:nvSpPr>
        <p:spPr>
          <a:xfrm>
            <a:off x="2007108" y="347472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Σ NetLoss</a:t>
            </a:r>
            <a:endParaRPr lang="en-US" sz="900" dirty="0"/>
          </a:p>
        </p:txBody>
      </p:sp>
      <p:sp>
        <p:nvSpPr>
          <p:cNvPr id="27" name="Shape 25"/>
          <p:cNvSpPr/>
          <p:nvPr/>
        </p:nvSpPr>
        <p:spPr>
          <a:xfrm>
            <a:off x="3337560" y="2606040"/>
            <a:ext cx="1325880" cy="1188720"/>
          </a:xfrm>
          <a:prstGeom prst="roundRect">
            <a:avLst>
              <a:gd name="adj" fmla="val 6154"/>
            </a:avLst>
          </a:prstGeom>
          <a:solidFill>
            <a:srgbClr val="FFFFFF"/>
          </a:solidFill>
          <a:ln w="15875">
            <a:solidFill>
              <a:srgbClr val="118DFF"/>
            </a:solidFill>
            <a:prstDash val="solid"/>
          </a:ln>
        </p:spPr>
      </p:sp>
      <p:sp>
        <p:nvSpPr>
          <p:cNvPr id="28" name="Text 26"/>
          <p:cNvSpPr txBox="1"/>
          <p:nvPr/>
        </p:nvSpPr>
        <p:spPr>
          <a:xfrm>
            <a:off x="3447288" y="2734056"/>
            <a:ext cx="1143000" cy="274320"/>
          </a:xfrm>
          <a:prstGeom prst="rect">
            <a:avLst/>
          </a:prstGeom>
          <a:noFill/>
          <a:ln/>
        </p:spPr>
        <p:txBody>
          <a:bodyPr wrap="square" lIns="0" tIns="0" rIns="0" bIns="0" rtlCol="0" anchor="t"/>
          <a:lstStyle/>
          <a:p>
            <a:pPr indent="0" marL="0">
              <a:buNone/>
            </a:pPr>
            <a:r>
              <a:rPr lang="en-US" sz="900" b="1" dirty="0">
                <a:solidFill>
                  <a:srgbClr val="7A8799"/>
                </a:solidFill>
                <a:latin typeface="Calibri" pitchFamily="34" charset="0"/>
                <a:ea typeface="Calibri" pitchFamily="34" charset="-122"/>
                <a:cs typeface="Calibri" pitchFamily="34" charset="-120"/>
              </a:rPr>
              <a:t>AMOUNT OVERDUE</a:t>
            </a:r>
            <a:endParaRPr lang="en-US" sz="900" dirty="0"/>
          </a:p>
        </p:txBody>
      </p:sp>
      <p:sp>
        <p:nvSpPr>
          <p:cNvPr id="29" name="Text 27"/>
          <p:cNvSpPr txBox="1"/>
          <p:nvPr/>
        </p:nvSpPr>
        <p:spPr>
          <a:xfrm>
            <a:off x="3447288" y="3044952"/>
            <a:ext cx="1143000" cy="411480"/>
          </a:xfrm>
          <a:prstGeom prst="rect">
            <a:avLst/>
          </a:prstGeom>
          <a:noFill/>
          <a:ln/>
        </p:spPr>
        <p:txBody>
          <a:bodyPr wrap="square" lIns="0" tIns="0" rIns="0" bIns="0" rtlCol="0" anchor="t"/>
          <a:lstStyle/>
          <a:p>
            <a:pPr indent="0" marL="0">
              <a:buNone/>
            </a:pPr>
            <a:r>
              <a:rPr lang="en-US" sz="1200" b="1" dirty="0">
                <a:solidFill>
                  <a:srgbClr val="118DFF"/>
                </a:solidFill>
                <a:latin typeface="Calibri" pitchFamily="34" charset="0"/>
                <a:ea typeface="Calibri" pitchFamily="34" charset="-122"/>
                <a:cs typeface="Calibri" pitchFamily="34" charset="-120"/>
              </a:rPr>
              <a:t>Tracked on dashboard</a:t>
            </a:r>
            <a:endParaRPr lang="en-US" sz="1200" dirty="0"/>
          </a:p>
        </p:txBody>
      </p:sp>
      <p:sp>
        <p:nvSpPr>
          <p:cNvPr id="30" name="Text 28"/>
          <p:cNvSpPr txBox="1"/>
          <p:nvPr/>
        </p:nvSpPr>
        <p:spPr>
          <a:xfrm>
            <a:off x="3447288" y="3474720"/>
            <a:ext cx="1188720" cy="22860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By DPD bucket</a:t>
            </a:r>
            <a:endParaRPr lang="en-US" sz="900" dirty="0"/>
          </a:p>
        </p:txBody>
      </p:sp>
      <p:sp>
        <p:nvSpPr>
          <p:cNvPr id="31" name="Shape 29"/>
          <p:cNvSpPr/>
          <p:nvPr/>
        </p:nvSpPr>
        <p:spPr>
          <a:xfrm>
            <a:off x="457200" y="3977640"/>
            <a:ext cx="4251960" cy="658368"/>
          </a:xfrm>
          <a:prstGeom prst="roundRect">
            <a:avLst>
              <a:gd name="adj" fmla="val 11111"/>
            </a:avLst>
          </a:prstGeom>
          <a:solidFill>
            <a:srgbClr val="E6F0FB"/>
          </a:solidFill>
          <a:ln w="9525">
            <a:solidFill>
              <a:srgbClr val="BBD3F0"/>
            </a:solidFill>
            <a:prstDash val="solid"/>
          </a:ln>
        </p:spPr>
      </p:sp>
      <p:sp>
        <p:nvSpPr>
          <p:cNvPr id="32" name="Text 30"/>
          <p:cNvSpPr txBox="1"/>
          <p:nvPr/>
        </p:nvSpPr>
        <p:spPr>
          <a:xfrm>
            <a:off x="594360" y="3977640"/>
            <a:ext cx="4023360" cy="658368"/>
          </a:xfrm>
          <a:prstGeom prst="rect">
            <a:avLst/>
          </a:prstGeom>
          <a:noFill/>
          <a:ln/>
        </p:spPr>
        <p:txBody>
          <a:bodyPr wrap="square" lIns="0" tIns="0" rIns="0" bIns="0" rtlCol="0" anchor="ctr"/>
          <a:lstStyle/>
          <a:p>
            <a:pPr indent="0" marL="0">
              <a:buNone/>
            </a:pPr>
            <a:r>
              <a:rPr lang="en-US" sz="1000" b="1" dirty="0">
                <a:solidFill>
                  <a:srgbClr val="0B1F3A"/>
                </a:solidFill>
                <a:latin typeface="Calibri" pitchFamily="34" charset="0"/>
                <a:ea typeface="Calibri" pitchFamily="34" charset="-122"/>
                <a:cs typeface="Calibri" pitchFamily="34" charset="-120"/>
              </a:rPr>
              <a:t>Also on the dashboard: </a:t>
            </a:r>
            <a:pPr indent="0" marL="0">
              <a:buNone/>
            </a:pPr>
            <a:r>
              <a:rPr lang="en-US" sz="1000" dirty="0">
                <a:solidFill>
                  <a:srgbClr val="4A5A70"/>
                </a:solidFill>
                <a:latin typeface="Calibri" pitchFamily="34" charset="0"/>
                <a:ea typeface="Calibri" pitchFamily="34" charset="-122"/>
                <a:cs typeface="Calibri" pitchFamily="34" charset="-120"/>
              </a:rPr>
              <a:t>monthly Total Outstanding and Net Loss trends, current vs repossessed positions, overdue balances by DPD bucket.</a:t>
            </a:r>
            <a:endParaRPr lang="en-US" sz="1000" dirty="0"/>
          </a:p>
        </p:txBody>
      </p:sp>
      <p:sp>
        <p:nvSpPr>
          <p:cNvPr id="33" name="Shape 31"/>
          <p:cNvSpPr/>
          <p:nvPr/>
        </p:nvSpPr>
        <p:spPr>
          <a:xfrm>
            <a:off x="4937760" y="1280160"/>
            <a:ext cx="3749040" cy="3355848"/>
          </a:xfrm>
          <a:prstGeom prst="roundRect">
            <a:avLst>
              <a:gd name="adj" fmla="val 218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4" name="Text 32"/>
          <p:cNvSpPr txBox="1"/>
          <p:nvPr/>
        </p:nvSpPr>
        <p:spPr>
          <a:xfrm>
            <a:off x="5120640" y="1417320"/>
            <a:ext cx="3383280" cy="256032"/>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Total Outstanding by vehicle type (₹ M)</a:t>
            </a:r>
            <a:endParaRPr lang="en-US" sz="1200" dirty="0"/>
          </a:p>
        </p:txBody>
      </p:sp>
      <p:graphicFrame>
        <p:nvGraphicFramePr>
          <p:cNvPr id="35" name="Chart 0" descr=""/>
          <p:cNvGraphicFramePr/>
          <p:nvPr/>
        </p:nvGraphicFramePr>
        <p:xfrm>
          <a:off x="5029200" y="1737360"/>
          <a:ext cx="3566160" cy="233172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txBox="1"/>
          <p:nvPr/>
        </p:nvSpPr>
        <p:spPr>
          <a:xfrm>
            <a:off x="5120640" y="4206240"/>
            <a:ext cx="3383280" cy="365760"/>
          </a:xfrm>
          <a:prstGeom prst="rect">
            <a:avLst/>
          </a:prstGeom>
          <a:noFill/>
          <a:ln/>
        </p:spPr>
        <p:txBody>
          <a:bodyPr wrap="square" lIns="0" tIns="0" rIns="0" bIns="0" rtlCol="0" anchor="t"/>
          <a:lstStyle/>
          <a:p>
            <a:pPr indent="0" marL="0">
              <a:buNone/>
            </a:pPr>
            <a:r>
              <a:rPr lang="en-US" sz="1050" dirty="0">
                <a:solidFill>
                  <a:srgbClr val="4A5A70"/>
                </a:solidFill>
                <a:latin typeface="Calibri" pitchFamily="34" charset="0"/>
                <a:ea typeface="Calibri" pitchFamily="34" charset="-122"/>
                <a:cs typeface="Calibri" pitchFamily="34" charset="-120"/>
              </a:rPr>
              <a:t>SUV and MUV together ≈ 55.9% of Total Outstanding.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04  ·  DELINQUENCY</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DPD &amp; Vintage Analysis</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5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loan data tape (500 loans, 31 Oct 2024). Repo. = Repossessed.</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80160"/>
            <a:ext cx="4434840" cy="3355848"/>
          </a:xfrm>
          <a:prstGeom prst="roundRect">
            <a:avLst>
              <a:gd name="adj" fmla="val 218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8" name="Text 6"/>
          <p:cNvSpPr txBox="1"/>
          <p:nvPr/>
        </p:nvSpPr>
        <p:spPr>
          <a:xfrm>
            <a:off x="640080" y="1417320"/>
            <a:ext cx="4114800" cy="256032"/>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Outstanding balance by DPD status (% of pool)</a:t>
            </a:r>
            <a:endParaRPr lang="en-US" sz="1200" dirty="0"/>
          </a:p>
        </p:txBody>
      </p:sp>
      <p:sp>
        <p:nvSpPr>
          <p:cNvPr id="9" name="Shape 7"/>
          <p:cNvSpPr/>
          <p:nvPr/>
        </p:nvSpPr>
        <p:spPr>
          <a:xfrm>
            <a:off x="640080" y="1737360"/>
            <a:ext cx="1920240" cy="502920"/>
          </a:xfrm>
          <a:prstGeom prst="roundRect">
            <a:avLst>
              <a:gd name="adj" fmla="val 10909"/>
            </a:avLst>
          </a:prstGeom>
          <a:solidFill>
            <a:srgbClr val="0B1F3A"/>
          </a:solidFill>
          <a:ln w="12700">
            <a:solidFill>
              <a:srgbClr val="0B1F3A"/>
            </a:solidFill>
            <a:prstDash val="solid"/>
          </a:ln>
        </p:spPr>
      </p:sp>
      <p:sp>
        <p:nvSpPr>
          <p:cNvPr id="10" name="Text 8"/>
          <p:cNvSpPr txBox="1"/>
          <p:nvPr/>
        </p:nvSpPr>
        <p:spPr>
          <a:xfrm>
            <a:off x="749808" y="1737360"/>
            <a:ext cx="10972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30+ DPD Rate</a:t>
            </a:r>
            <a:endParaRPr lang="en-US" sz="1000" dirty="0"/>
          </a:p>
        </p:txBody>
      </p:sp>
      <p:sp>
        <p:nvSpPr>
          <p:cNvPr id="11" name="Text 9"/>
          <p:cNvSpPr txBox="1"/>
          <p:nvPr/>
        </p:nvSpPr>
        <p:spPr>
          <a:xfrm>
            <a:off x="1645920" y="1737360"/>
            <a:ext cx="822960" cy="502920"/>
          </a:xfrm>
          <a:prstGeom prst="rect">
            <a:avLst/>
          </a:prstGeom>
          <a:noFill/>
          <a:ln/>
        </p:spPr>
        <p:txBody>
          <a:bodyPr wrap="square" lIns="0" tIns="0" rIns="0" bIns="0" rtlCol="0" anchor="ctr"/>
          <a:lstStyle/>
          <a:p>
            <a:pPr algn="r" indent="0" marL="0">
              <a:buNone/>
            </a:pPr>
            <a:r>
              <a:rPr lang="en-US" sz="1900" b="1" dirty="0">
                <a:solidFill>
                  <a:srgbClr val="FFFFFF"/>
                </a:solidFill>
                <a:latin typeface="Calibri" pitchFamily="34" charset="0"/>
                <a:ea typeface="Calibri" pitchFamily="34" charset="-122"/>
                <a:cs typeface="Calibri" pitchFamily="34" charset="-120"/>
              </a:rPr>
              <a:t>14.1%</a:t>
            </a:r>
            <a:endParaRPr lang="en-US" sz="1900" dirty="0"/>
          </a:p>
        </p:txBody>
      </p:sp>
      <p:sp>
        <p:nvSpPr>
          <p:cNvPr id="12" name="Shape 10"/>
          <p:cNvSpPr/>
          <p:nvPr/>
        </p:nvSpPr>
        <p:spPr>
          <a:xfrm>
            <a:off x="2697480" y="1737360"/>
            <a:ext cx="1920240" cy="502920"/>
          </a:xfrm>
          <a:prstGeom prst="roundRect">
            <a:avLst>
              <a:gd name="adj" fmla="val 10909"/>
            </a:avLst>
          </a:prstGeom>
          <a:solidFill>
            <a:srgbClr val="E6F0FB"/>
          </a:solidFill>
          <a:ln w="12700">
            <a:solidFill>
              <a:srgbClr val="E6F0FB"/>
            </a:solidFill>
            <a:prstDash val="solid"/>
          </a:ln>
        </p:spPr>
      </p:sp>
      <p:sp>
        <p:nvSpPr>
          <p:cNvPr id="13" name="Text 11"/>
          <p:cNvSpPr txBox="1"/>
          <p:nvPr/>
        </p:nvSpPr>
        <p:spPr>
          <a:xfrm>
            <a:off x="2807208" y="1737360"/>
            <a:ext cx="1097280" cy="502920"/>
          </a:xfrm>
          <a:prstGeom prst="rect">
            <a:avLst/>
          </a:prstGeom>
          <a:noFill/>
          <a:ln/>
        </p:spPr>
        <p:txBody>
          <a:bodyPr wrap="square" lIns="0" tIns="0" rIns="0" bIns="0" rtlCol="0" anchor="ctr"/>
          <a:lstStyle/>
          <a:p>
            <a:pPr indent="0" marL="0">
              <a:buNone/>
            </a:pPr>
            <a:r>
              <a:rPr lang="en-US" sz="1000" b="1" dirty="0">
                <a:solidFill>
                  <a:srgbClr val="0B1F3A"/>
                </a:solidFill>
                <a:latin typeface="Calibri" pitchFamily="34" charset="0"/>
                <a:ea typeface="Calibri" pitchFamily="34" charset="-122"/>
                <a:cs typeface="Calibri" pitchFamily="34" charset="-120"/>
              </a:rPr>
              <a:t>Current</a:t>
            </a:r>
            <a:endParaRPr lang="en-US" sz="1000" dirty="0"/>
          </a:p>
        </p:txBody>
      </p:sp>
      <p:sp>
        <p:nvSpPr>
          <p:cNvPr id="14" name="Text 12"/>
          <p:cNvSpPr txBox="1"/>
          <p:nvPr/>
        </p:nvSpPr>
        <p:spPr>
          <a:xfrm>
            <a:off x="3703320" y="1737360"/>
            <a:ext cx="822960" cy="502920"/>
          </a:xfrm>
          <a:prstGeom prst="rect">
            <a:avLst/>
          </a:prstGeom>
          <a:noFill/>
          <a:ln/>
        </p:spPr>
        <p:txBody>
          <a:bodyPr wrap="square" lIns="0" tIns="0" rIns="0" bIns="0" rtlCol="0" anchor="ctr"/>
          <a:lstStyle/>
          <a:p>
            <a:pPr algn="r" indent="0" marL="0">
              <a:buNone/>
            </a:pPr>
            <a:r>
              <a:rPr lang="en-US" sz="1900" b="1" dirty="0">
                <a:solidFill>
                  <a:srgbClr val="0B1F3A"/>
                </a:solidFill>
                <a:latin typeface="Calibri" pitchFamily="34" charset="0"/>
                <a:ea typeface="Calibri" pitchFamily="34" charset="-122"/>
                <a:cs typeface="Calibri" pitchFamily="34" charset="-120"/>
              </a:rPr>
              <a:t>79.4%</a:t>
            </a:r>
            <a:endParaRPr lang="en-US" sz="1900" dirty="0"/>
          </a:p>
        </p:txBody>
      </p:sp>
      <p:graphicFrame>
        <p:nvGraphicFramePr>
          <p:cNvPr id="15" name="Chart 0" descr=""/>
          <p:cNvGraphicFramePr/>
          <p:nvPr/>
        </p:nvGraphicFramePr>
        <p:xfrm>
          <a:off x="548640" y="2487168"/>
          <a:ext cx="4251960" cy="21031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5074920" y="1280160"/>
            <a:ext cx="3611880" cy="1005840"/>
          </a:xfrm>
          <a:prstGeom prst="roundRect">
            <a:avLst>
              <a:gd name="adj" fmla="val 727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7" name="Shape 14"/>
          <p:cNvSpPr/>
          <p:nvPr/>
        </p:nvSpPr>
        <p:spPr>
          <a:xfrm>
            <a:off x="5230368" y="1554480"/>
            <a:ext cx="457200" cy="457200"/>
          </a:xfrm>
          <a:prstGeom prst="ellipse">
            <a:avLst/>
          </a:prstGeom>
          <a:solidFill>
            <a:srgbClr val="0B1F3A"/>
          </a:solidFill>
          <a:ln w="12700">
            <a:solidFill>
              <a:srgbClr val="0B1F3A"/>
            </a:solidFill>
            <a:prstDash val="solid"/>
          </a:ln>
        </p:spPr>
      </p:sp>
      <p:pic>
        <p:nvPicPr>
          <p:cNvPr id="18" name="Image 0" descr="preencoded.png">    </p:cNvPr>
          <p:cNvPicPr>
            <a:picLocks noChangeAspect="1"/>
          </p:cNvPicPr>
          <p:nvPr/>
        </p:nvPicPr>
        <p:blipFill>
          <a:blip r:embed="rId2"/>
          <a:stretch>
            <a:fillRect/>
          </a:stretch>
        </p:blipFill>
        <p:spPr>
          <a:xfrm>
            <a:off x="5344668" y="1668780"/>
            <a:ext cx="228600" cy="228600"/>
          </a:xfrm>
          <a:prstGeom prst="rect">
            <a:avLst/>
          </a:prstGeom>
        </p:spPr>
      </p:pic>
      <p:sp>
        <p:nvSpPr>
          <p:cNvPr id="19" name="Text 15"/>
          <p:cNvSpPr txBox="1"/>
          <p:nvPr/>
        </p:nvSpPr>
        <p:spPr>
          <a:xfrm>
            <a:off x="5833872" y="1389888"/>
            <a:ext cx="2743200" cy="237744"/>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Delinquency trends</a:t>
            </a:r>
            <a:endParaRPr lang="en-US" sz="1250" dirty="0"/>
          </a:p>
        </p:txBody>
      </p:sp>
      <p:sp>
        <p:nvSpPr>
          <p:cNvPr id="20" name="Text 16"/>
          <p:cNvSpPr txBox="1"/>
          <p:nvPr/>
        </p:nvSpPr>
        <p:spPr>
          <a:xfrm>
            <a:off x="5833872" y="1645920"/>
            <a:ext cx="2743200" cy="59436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30+ DPD Rate tracked by month, with 3M / 12M rolling averages and prior-period comparisons.</a:t>
            </a:r>
            <a:endParaRPr lang="en-US" sz="1000" dirty="0"/>
          </a:p>
        </p:txBody>
      </p:sp>
      <p:sp>
        <p:nvSpPr>
          <p:cNvPr id="21" name="Shape 17"/>
          <p:cNvSpPr/>
          <p:nvPr/>
        </p:nvSpPr>
        <p:spPr>
          <a:xfrm>
            <a:off x="5074920" y="2455164"/>
            <a:ext cx="3611880" cy="1005840"/>
          </a:xfrm>
          <a:prstGeom prst="roundRect">
            <a:avLst>
              <a:gd name="adj" fmla="val 727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2" name="Shape 18"/>
          <p:cNvSpPr/>
          <p:nvPr/>
        </p:nvSpPr>
        <p:spPr>
          <a:xfrm>
            <a:off x="5230368" y="2729484"/>
            <a:ext cx="457200" cy="457200"/>
          </a:xfrm>
          <a:prstGeom prst="ellipse">
            <a:avLst/>
          </a:prstGeom>
          <a:solidFill>
            <a:srgbClr val="0B1F3A"/>
          </a:solidFill>
          <a:ln w="12700">
            <a:solidFill>
              <a:srgbClr val="0B1F3A"/>
            </a:solidFill>
            <a:prstDash val="solid"/>
          </a:ln>
        </p:spPr>
      </p:sp>
      <p:pic>
        <p:nvPicPr>
          <p:cNvPr id="23" name="Image 1" descr="preencoded.png">    </p:cNvPr>
          <p:cNvPicPr>
            <a:picLocks noChangeAspect="1"/>
          </p:cNvPicPr>
          <p:nvPr/>
        </p:nvPicPr>
        <p:blipFill>
          <a:blip r:embed="rId3"/>
          <a:stretch>
            <a:fillRect/>
          </a:stretch>
        </p:blipFill>
        <p:spPr>
          <a:xfrm>
            <a:off x="5344668" y="2843784"/>
            <a:ext cx="228600" cy="228600"/>
          </a:xfrm>
          <a:prstGeom prst="rect">
            <a:avLst/>
          </a:prstGeom>
        </p:spPr>
      </p:pic>
      <p:sp>
        <p:nvSpPr>
          <p:cNvPr id="24" name="Text 19"/>
          <p:cNvSpPr txBox="1"/>
          <p:nvPr/>
        </p:nvSpPr>
        <p:spPr>
          <a:xfrm>
            <a:off x="5833872" y="2564892"/>
            <a:ext cx="2743200" cy="237744"/>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Vintage analysis</a:t>
            </a:r>
            <a:endParaRPr lang="en-US" sz="1250" dirty="0"/>
          </a:p>
        </p:txBody>
      </p:sp>
      <p:sp>
        <p:nvSpPr>
          <p:cNvPr id="25" name="Text 20"/>
          <p:cNvSpPr txBox="1"/>
          <p:nvPr/>
        </p:nvSpPr>
        <p:spPr>
          <a:xfrm>
            <a:off x="5833872" y="2820924"/>
            <a:ext cx="2743200" cy="59436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Loans grouped by origination vintage; Cumulative Net Loss Rate compared across cohorts.</a:t>
            </a:r>
            <a:endParaRPr lang="en-US" sz="1000" dirty="0"/>
          </a:p>
        </p:txBody>
      </p:sp>
      <p:sp>
        <p:nvSpPr>
          <p:cNvPr id="26" name="Shape 21"/>
          <p:cNvSpPr/>
          <p:nvPr/>
        </p:nvSpPr>
        <p:spPr>
          <a:xfrm>
            <a:off x="5074920" y="3630168"/>
            <a:ext cx="3611880" cy="1005840"/>
          </a:xfrm>
          <a:prstGeom prst="roundRect">
            <a:avLst>
              <a:gd name="adj" fmla="val 727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7" name="Shape 22"/>
          <p:cNvSpPr/>
          <p:nvPr/>
        </p:nvSpPr>
        <p:spPr>
          <a:xfrm>
            <a:off x="5230368" y="3904488"/>
            <a:ext cx="457200" cy="457200"/>
          </a:xfrm>
          <a:prstGeom prst="ellipse">
            <a:avLst/>
          </a:prstGeom>
          <a:solidFill>
            <a:srgbClr val="0B1F3A"/>
          </a:solidFill>
          <a:ln w="12700">
            <a:solidFill>
              <a:srgbClr val="0B1F3A"/>
            </a:solidFill>
            <a:prstDash val="solid"/>
          </a:ln>
        </p:spPr>
      </p:sp>
      <p:pic>
        <p:nvPicPr>
          <p:cNvPr id="28" name="Image 2" descr="preencoded.png">    </p:cNvPr>
          <p:cNvPicPr>
            <a:picLocks noChangeAspect="1"/>
          </p:cNvPicPr>
          <p:nvPr/>
        </p:nvPicPr>
        <p:blipFill>
          <a:blip r:embed="rId4"/>
          <a:stretch>
            <a:fillRect/>
          </a:stretch>
        </p:blipFill>
        <p:spPr>
          <a:xfrm>
            <a:off x="5344668" y="4018788"/>
            <a:ext cx="228600" cy="228600"/>
          </a:xfrm>
          <a:prstGeom prst="rect">
            <a:avLst/>
          </a:prstGeom>
        </p:spPr>
      </p:pic>
      <p:sp>
        <p:nvSpPr>
          <p:cNvPr id="29" name="Text 23"/>
          <p:cNvSpPr txBox="1"/>
          <p:nvPr/>
        </p:nvSpPr>
        <p:spPr>
          <a:xfrm>
            <a:off x="5833872" y="3739896"/>
            <a:ext cx="2743200" cy="237744"/>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Average DPD Age</a:t>
            </a:r>
            <a:endParaRPr lang="en-US" sz="1250" dirty="0"/>
          </a:p>
        </p:txBody>
      </p:sp>
      <p:sp>
        <p:nvSpPr>
          <p:cNvPr id="30" name="Text 24"/>
          <p:cNvSpPr txBox="1"/>
          <p:nvPr/>
        </p:nvSpPr>
        <p:spPr>
          <a:xfrm>
            <a:off x="5833872" y="3995928"/>
            <a:ext cx="2743200" cy="59436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Average days past due across loans with DPD above zero, from DPD snapshot history.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05  ·  CREDIT RISK</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IFRS 9 ECL Analysis</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6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Excel Validation Workbook – ECL Crosscheck; loan data tape (IFRS 9 stage, outstanding balance).</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34440"/>
            <a:ext cx="1783080" cy="1051560"/>
          </a:xfrm>
          <a:prstGeom prst="roundRect">
            <a:avLst>
              <a:gd name="adj" fmla="val 6957"/>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8" name="Text 6"/>
          <p:cNvSpPr txBox="1"/>
          <p:nvPr/>
        </p:nvSpPr>
        <p:spPr>
          <a:xfrm>
            <a:off x="594360" y="1325880"/>
            <a:ext cx="1554480" cy="201168"/>
          </a:xfrm>
          <a:prstGeom prst="rect">
            <a:avLst/>
          </a:prstGeom>
          <a:noFill/>
          <a:ln/>
        </p:spPr>
        <p:txBody>
          <a:bodyPr wrap="square" lIns="0" tIns="0" rIns="0" bIns="0" rtlCol="0" anchor="t"/>
          <a:lstStyle/>
          <a:p>
            <a:pPr indent="0" marL="0">
              <a:buNone/>
            </a:pPr>
            <a:r>
              <a:rPr lang="en-US" sz="1000" b="1" spc="100" kern="0" dirty="0">
                <a:solidFill>
                  <a:srgbClr val="7A8799"/>
                </a:solidFill>
                <a:latin typeface="Calibri" pitchFamily="34" charset="0"/>
                <a:ea typeface="Calibri" pitchFamily="34" charset="-122"/>
                <a:cs typeface="Calibri" pitchFamily="34" charset="-120"/>
              </a:rPr>
              <a:t>EAD</a:t>
            </a:r>
            <a:endParaRPr lang="en-US" sz="1000" dirty="0"/>
          </a:p>
        </p:txBody>
      </p:sp>
      <p:sp>
        <p:nvSpPr>
          <p:cNvPr id="9" name="Text 7"/>
          <p:cNvSpPr txBox="1"/>
          <p:nvPr/>
        </p:nvSpPr>
        <p:spPr>
          <a:xfrm>
            <a:off x="594360" y="1554480"/>
            <a:ext cx="1554480" cy="384048"/>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₹326.16M</a:t>
            </a:r>
            <a:endParaRPr lang="en-US" sz="2200" dirty="0"/>
          </a:p>
        </p:txBody>
      </p:sp>
      <p:sp>
        <p:nvSpPr>
          <p:cNvPr id="10" name="Text 8"/>
          <p:cNvSpPr txBox="1"/>
          <p:nvPr/>
        </p:nvSpPr>
        <p:spPr>
          <a:xfrm>
            <a:off x="594360" y="1965960"/>
            <a:ext cx="1554480" cy="27432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Exposure at Default</a:t>
            </a:r>
            <a:endParaRPr lang="en-US" sz="900" dirty="0"/>
          </a:p>
        </p:txBody>
      </p:sp>
      <p:sp>
        <p:nvSpPr>
          <p:cNvPr id="11" name="Text 9"/>
          <p:cNvSpPr txBox="1"/>
          <p:nvPr/>
        </p:nvSpPr>
        <p:spPr>
          <a:xfrm>
            <a:off x="2240280" y="1417320"/>
            <a:ext cx="365760" cy="548640"/>
          </a:xfrm>
          <a:prstGeom prst="rect">
            <a:avLst/>
          </a:prstGeom>
          <a:noFill/>
          <a:ln/>
        </p:spPr>
        <p:txBody>
          <a:bodyPr wrap="square" lIns="0" tIns="0" rIns="0" bIns="0" rtlCol="0" anchor="ctr"/>
          <a:lstStyle/>
          <a:p>
            <a:pPr algn="ctr" indent="0" marL="0">
              <a:buNone/>
            </a:pPr>
            <a:r>
              <a:rPr lang="en-US" sz="2200" b="1" dirty="0">
                <a:solidFill>
                  <a:srgbClr val="1F5FB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2606040" y="1234440"/>
            <a:ext cx="1783080" cy="1051560"/>
          </a:xfrm>
          <a:prstGeom prst="roundRect">
            <a:avLst>
              <a:gd name="adj" fmla="val 6957"/>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3" name="Text 11"/>
          <p:cNvSpPr txBox="1"/>
          <p:nvPr/>
        </p:nvSpPr>
        <p:spPr>
          <a:xfrm>
            <a:off x="2743200" y="1325880"/>
            <a:ext cx="1554480" cy="201168"/>
          </a:xfrm>
          <a:prstGeom prst="rect">
            <a:avLst/>
          </a:prstGeom>
          <a:noFill/>
          <a:ln/>
        </p:spPr>
        <p:txBody>
          <a:bodyPr wrap="square" lIns="0" tIns="0" rIns="0" bIns="0" rtlCol="0" anchor="t"/>
          <a:lstStyle/>
          <a:p>
            <a:pPr indent="0" marL="0">
              <a:buNone/>
            </a:pPr>
            <a:r>
              <a:rPr lang="en-US" sz="1000" b="1" spc="100" kern="0" dirty="0">
                <a:solidFill>
                  <a:srgbClr val="7A8799"/>
                </a:solidFill>
                <a:latin typeface="Calibri" pitchFamily="34" charset="0"/>
                <a:ea typeface="Calibri" pitchFamily="34" charset="-122"/>
                <a:cs typeface="Calibri" pitchFamily="34" charset="-120"/>
              </a:rPr>
              <a:t>PD  (12M)</a:t>
            </a:r>
            <a:endParaRPr lang="en-US" sz="1000" dirty="0"/>
          </a:p>
        </p:txBody>
      </p:sp>
      <p:sp>
        <p:nvSpPr>
          <p:cNvPr id="14" name="Text 12"/>
          <p:cNvSpPr txBox="1"/>
          <p:nvPr/>
        </p:nvSpPr>
        <p:spPr>
          <a:xfrm>
            <a:off x="2743200" y="1554480"/>
            <a:ext cx="1554480" cy="384048"/>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1.8%</a:t>
            </a:r>
            <a:endParaRPr lang="en-US" sz="2200" dirty="0"/>
          </a:p>
        </p:txBody>
      </p:sp>
      <p:sp>
        <p:nvSpPr>
          <p:cNvPr id="15" name="Text 13"/>
          <p:cNvSpPr txBox="1"/>
          <p:nvPr/>
        </p:nvSpPr>
        <p:spPr>
          <a:xfrm>
            <a:off x="2743200" y="1965960"/>
            <a:ext cx="1554480" cy="27432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Defaulted loans ÷ Total loans</a:t>
            </a:r>
            <a:endParaRPr lang="en-US" sz="900" dirty="0"/>
          </a:p>
        </p:txBody>
      </p:sp>
      <p:sp>
        <p:nvSpPr>
          <p:cNvPr id="16" name="Text 14"/>
          <p:cNvSpPr txBox="1"/>
          <p:nvPr/>
        </p:nvSpPr>
        <p:spPr>
          <a:xfrm>
            <a:off x="4389120" y="1417320"/>
            <a:ext cx="365760" cy="548640"/>
          </a:xfrm>
          <a:prstGeom prst="rect">
            <a:avLst/>
          </a:prstGeom>
          <a:noFill/>
          <a:ln/>
        </p:spPr>
        <p:txBody>
          <a:bodyPr wrap="square" lIns="0" tIns="0" rIns="0" bIns="0" rtlCol="0" anchor="ctr"/>
          <a:lstStyle/>
          <a:p>
            <a:pPr algn="ctr" indent="0" marL="0">
              <a:buNone/>
            </a:pPr>
            <a:r>
              <a:rPr lang="en-US" sz="2200" b="1" dirty="0">
                <a:solidFill>
                  <a:srgbClr val="1F5FBF"/>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4754880" y="1234440"/>
            <a:ext cx="1783080" cy="1051560"/>
          </a:xfrm>
          <a:prstGeom prst="roundRect">
            <a:avLst>
              <a:gd name="adj" fmla="val 6957"/>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8" name="Text 16"/>
          <p:cNvSpPr txBox="1"/>
          <p:nvPr/>
        </p:nvSpPr>
        <p:spPr>
          <a:xfrm>
            <a:off x="4892040" y="1325880"/>
            <a:ext cx="1554480" cy="201168"/>
          </a:xfrm>
          <a:prstGeom prst="rect">
            <a:avLst/>
          </a:prstGeom>
          <a:noFill/>
          <a:ln/>
        </p:spPr>
        <p:txBody>
          <a:bodyPr wrap="square" lIns="0" tIns="0" rIns="0" bIns="0" rtlCol="0" anchor="t"/>
          <a:lstStyle/>
          <a:p>
            <a:pPr indent="0" marL="0">
              <a:buNone/>
            </a:pPr>
            <a:r>
              <a:rPr lang="en-US" sz="1000" b="1" spc="100" kern="0" dirty="0">
                <a:solidFill>
                  <a:srgbClr val="7A8799"/>
                </a:solidFill>
                <a:latin typeface="Calibri" pitchFamily="34" charset="0"/>
                <a:ea typeface="Calibri" pitchFamily="34" charset="-122"/>
                <a:cs typeface="Calibri" pitchFamily="34" charset="-120"/>
              </a:rPr>
              <a:t>LGD</a:t>
            </a:r>
            <a:endParaRPr lang="en-US" sz="1000" dirty="0"/>
          </a:p>
        </p:txBody>
      </p:sp>
      <p:sp>
        <p:nvSpPr>
          <p:cNvPr id="19" name="Text 17"/>
          <p:cNvSpPr txBox="1"/>
          <p:nvPr/>
        </p:nvSpPr>
        <p:spPr>
          <a:xfrm>
            <a:off x="4892040" y="1554480"/>
            <a:ext cx="1554480" cy="384048"/>
          </a:xfrm>
          <a:prstGeom prst="rect">
            <a:avLst/>
          </a:prstGeom>
          <a:noFill/>
          <a:ln/>
        </p:spPr>
        <p:txBody>
          <a:bodyPr wrap="square" lIns="0" tIns="0" rIns="0" bIns="0" rtlCol="0" anchor="t"/>
          <a:lstStyle/>
          <a:p>
            <a:pPr indent="0" marL="0">
              <a:buNone/>
            </a:pPr>
            <a:r>
              <a:rPr lang="en-US" sz="2200" b="1" dirty="0">
                <a:solidFill>
                  <a:srgbClr val="0B1F3A"/>
                </a:solidFill>
                <a:latin typeface="Calibri" pitchFamily="34" charset="0"/>
                <a:ea typeface="Calibri" pitchFamily="34" charset="-122"/>
                <a:cs typeface="Calibri" pitchFamily="34" charset="-120"/>
              </a:rPr>
              <a:t>94.16%</a:t>
            </a:r>
            <a:endParaRPr lang="en-US" sz="2200" dirty="0"/>
          </a:p>
        </p:txBody>
      </p:sp>
      <p:sp>
        <p:nvSpPr>
          <p:cNvPr id="20" name="Text 18"/>
          <p:cNvSpPr txBox="1"/>
          <p:nvPr/>
        </p:nvSpPr>
        <p:spPr>
          <a:xfrm>
            <a:off x="4892040" y="1965960"/>
            <a:ext cx="1554480" cy="274320"/>
          </a:xfrm>
          <a:prstGeom prst="rect">
            <a:avLst/>
          </a:prstGeom>
          <a:noFill/>
          <a:ln/>
        </p:spPr>
        <p:txBody>
          <a:bodyPr wrap="square" lIns="0" tIns="0" rIns="0" bIns="0" rtlCol="0" anchor="t"/>
          <a:lstStyle/>
          <a:p>
            <a:pPr indent="0" marL="0">
              <a:buNone/>
            </a:pPr>
            <a:r>
              <a:rPr lang="en-US" sz="900" dirty="0">
                <a:solidFill>
                  <a:srgbClr val="4A5A70"/>
                </a:solidFill>
                <a:latin typeface="Calibri" pitchFamily="34" charset="0"/>
                <a:ea typeface="Calibri" pitchFamily="34" charset="-122"/>
                <a:cs typeface="Calibri" pitchFamily="34" charset="-120"/>
              </a:rPr>
              <a:t>1 − Recoveries ÷ Defaulted balance</a:t>
            </a:r>
            <a:endParaRPr lang="en-US" sz="900" dirty="0"/>
          </a:p>
        </p:txBody>
      </p:sp>
      <p:sp>
        <p:nvSpPr>
          <p:cNvPr id="21" name="Text 19"/>
          <p:cNvSpPr txBox="1"/>
          <p:nvPr/>
        </p:nvSpPr>
        <p:spPr>
          <a:xfrm>
            <a:off x="6537960" y="1417320"/>
            <a:ext cx="365760" cy="548640"/>
          </a:xfrm>
          <a:prstGeom prst="rect">
            <a:avLst/>
          </a:prstGeom>
          <a:noFill/>
          <a:ln/>
        </p:spPr>
        <p:txBody>
          <a:bodyPr wrap="square" lIns="0" tIns="0" rIns="0" bIns="0" rtlCol="0" anchor="ctr"/>
          <a:lstStyle/>
          <a:p>
            <a:pPr algn="ctr" indent="0" marL="0">
              <a:buNone/>
            </a:pPr>
            <a:r>
              <a:rPr lang="en-US" sz="2200" b="1" dirty="0">
                <a:solidFill>
                  <a:srgbClr val="1F5FBF"/>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6903720" y="1234440"/>
            <a:ext cx="1783080" cy="1051560"/>
          </a:xfrm>
          <a:prstGeom prst="roundRect">
            <a:avLst>
              <a:gd name="adj" fmla="val 6957"/>
            </a:avLst>
          </a:prstGeom>
          <a:solidFill>
            <a:srgbClr val="0B1F3A"/>
          </a:solidFill>
          <a:ln w="9525">
            <a:solidFill>
              <a:srgbClr val="0B1F3A"/>
            </a:solidFill>
            <a:prstDash val="solid"/>
          </a:ln>
          <a:effectLst>
            <a:outerShdw sx="100000" sy="100000" kx="0" ky="0" algn="bl" rotWithShape="0" blurRad="101600" dist="25400" dir="5400000">
              <a:srgbClr val="0B1F3A">
                <a:alpha val="10000"/>
              </a:srgbClr>
            </a:outerShdw>
          </a:effectLst>
        </p:spPr>
      </p:sp>
      <p:sp>
        <p:nvSpPr>
          <p:cNvPr id="23" name="Text 21"/>
          <p:cNvSpPr txBox="1"/>
          <p:nvPr/>
        </p:nvSpPr>
        <p:spPr>
          <a:xfrm>
            <a:off x="7040880" y="1325880"/>
            <a:ext cx="1554480" cy="201168"/>
          </a:xfrm>
          <a:prstGeom prst="rect">
            <a:avLst/>
          </a:prstGeom>
          <a:noFill/>
          <a:ln/>
        </p:spPr>
        <p:txBody>
          <a:bodyPr wrap="square" lIns="0" tIns="0" rIns="0" bIns="0" rtlCol="0" anchor="t"/>
          <a:lstStyle/>
          <a:p>
            <a:pPr indent="0" marL="0">
              <a:buNone/>
            </a:pPr>
            <a:r>
              <a:rPr lang="en-US" sz="1000" b="1" spc="100" kern="0" dirty="0">
                <a:solidFill>
                  <a:srgbClr val="F2C811"/>
                </a:solidFill>
                <a:latin typeface="Calibri" pitchFamily="34" charset="0"/>
                <a:ea typeface="Calibri" pitchFamily="34" charset="-122"/>
                <a:cs typeface="Calibri" pitchFamily="34" charset="-120"/>
              </a:rPr>
              <a:t>ECL</a:t>
            </a:r>
            <a:endParaRPr lang="en-US" sz="1000" dirty="0"/>
          </a:p>
        </p:txBody>
      </p:sp>
      <p:sp>
        <p:nvSpPr>
          <p:cNvPr id="24" name="Text 22"/>
          <p:cNvSpPr txBox="1"/>
          <p:nvPr/>
        </p:nvSpPr>
        <p:spPr>
          <a:xfrm>
            <a:off x="7040880" y="1554480"/>
            <a:ext cx="155448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₹5.53M</a:t>
            </a:r>
            <a:endParaRPr lang="en-US" sz="2200" dirty="0"/>
          </a:p>
        </p:txBody>
      </p:sp>
      <p:sp>
        <p:nvSpPr>
          <p:cNvPr id="25" name="Text 23"/>
          <p:cNvSpPr txBox="1"/>
          <p:nvPr/>
        </p:nvSpPr>
        <p:spPr>
          <a:xfrm>
            <a:off x="7040880" y="1965960"/>
            <a:ext cx="1554480" cy="274320"/>
          </a:xfrm>
          <a:prstGeom prst="rect">
            <a:avLst/>
          </a:prstGeom>
          <a:noFill/>
          <a:ln/>
        </p:spPr>
        <p:txBody>
          <a:bodyPr wrap="square" lIns="0" tIns="0" rIns="0" bIns="0" rtlCol="0" anchor="t"/>
          <a:lstStyle/>
          <a:p>
            <a:pPr indent="0" marL="0">
              <a:buNone/>
            </a:pPr>
            <a:r>
              <a:rPr lang="en-US" sz="900" dirty="0">
                <a:solidFill>
                  <a:srgbClr val="C9D6E8"/>
                </a:solidFill>
                <a:latin typeface="Calibri" pitchFamily="34" charset="0"/>
                <a:ea typeface="Calibri" pitchFamily="34" charset="-122"/>
                <a:cs typeface="Calibri" pitchFamily="34" charset="-120"/>
              </a:rPr>
              <a:t>PD × LGD × EAD</a:t>
            </a:r>
            <a:endParaRPr lang="en-US" sz="900" dirty="0"/>
          </a:p>
        </p:txBody>
      </p:sp>
      <p:sp>
        <p:nvSpPr>
          <p:cNvPr id="26" name="Shape 24"/>
          <p:cNvSpPr/>
          <p:nvPr/>
        </p:nvSpPr>
        <p:spPr>
          <a:xfrm>
            <a:off x="457200" y="2468880"/>
            <a:ext cx="4572000" cy="2194560"/>
          </a:xfrm>
          <a:prstGeom prst="roundRect">
            <a:avLst>
              <a:gd name="adj" fmla="val 333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7" name="Text 25"/>
          <p:cNvSpPr txBox="1"/>
          <p:nvPr/>
        </p:nvSpPr>
        <p:spPr>
          <a:xfrm>
            <a:off x="640080" y="2578608"/>
            <a:ext cx="4206240" cy="256032"/>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Outstanding balance by IFRS 9 stage (₹ M)</a:t>
            </a:r>
            <a:endParaRPr lang="en-US" sz="1200" dirty="0"/>
          </a:p>
        </p:txBody>
      </p:sp>
      <p:graphicFrame>
        <p:nvGraphicFramePr>
          <p:cNvPr id="28" name="Chart 0" descr=""/>
          <p:cNvGraphicFramePr/>
          <p:nvPr/>
        </p:nvGraphicFramePr>
        <p:xfrm>
          <a:off x="548640" y="2880360"/>
          <a:ext cx="4160520" cy="173736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5212080" y="2468880"/>
            <a:ext cx="3474720" cy="2194560"/>
          </a:xfrm>
          <a:prstGeom prst="roundRect">
            <a:avLst>
              <a:gd name="adj" fmla="val 333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0" name="Shape 27"/>
          <p:cNvSpPr/>
          <p:nvPr/>
        </p:nvSpPr>
        <p:spPr>
          <a:xfrm>
            <a:off x="5394960" y="2606040"/>
            <a:ext cx="365760" cy="365760"/>
          </a:xfrm>
          <a:prstGeom prst="ellipse">
            <a:avLst/>
          </a:prstGeom>
          <a:solidFill>
            <a:srgbClr val="2E9E6B"/>
          </a:solidFill>
          <a:ln w="12700">
            <a:solidFill>
              <a:srgbClr val="2E9E6B"/>
            </a:solidFill>
            <a:prstDash val="solid"/>
          </a:ln>
        </p:spPr>
      </p:sp>
      <p:pic>
        <p:nvPicPr>
          <p:cNvPr id="31" name="Image 0" descr="preencoded.png">    </p:cNvPr>
          <p:cNvPicPr>
            <a:picLocks noChangeAspect="1"/>
          </p:cNvPicPr>
          <p:nvPr/>
        </p:nvPicPr>
        <p:blipFill>
          <a:blip r:embed="rId2"/>
          <a:stretch>
            <a:fillRect/>
          </a:stretch>
        </p:blipFill>
        <p:spPr>
          <a:xfrm>
            <a:off x="5486400" y="2697480"/>
            <a:ext cx="182880" cy="182880"/>
          </a:xfrm>
          <a:prstGeom prst="rect">
            <a:avLst/>
          </a:prstGeom>
        </p:spPr>
      </p:pic>
      <p:sp>
        <p:nvSpPr>
          <p:cNvPr id="32" name="Text 28"/>
          <p:cNvSpPr txBox="1"/>
          <p:nvPr/>
        </p:nvSpPr>
        <p:spPr>
          <a:xfrm>
            <a:off x="5870448" y="2624328"/>
            <a:ext cx="2651760" cy="32918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Excel cross-check</a:t>
            </a:r>
            <a:endParaRPr lang="en-US" sz="1300" dirty="0"/>
          </a:p>
        </p:txBody>
      </p:sp>
      <p:sp>
        <p:nvSpPr>
          <p:cNvPr id="33" name="Text 29"/>
          <p:cNvSpPr txBox="1"/>
          <p:nvPr/>
        </p:nvSpPr>
        <p:spPr>
          <a:xfrm>
            <a:off x="5394960" y="3108960"/>
            <a:ext cx="1188720" cy="292608"/>
          </a:xfrm>
          <a:prstGeom prst="rect">
            <a:avLst/>
          </a:prstGeom>
          <a:noFill/>
          <a:ln/>
        </p:spPr>
        <p:txBody>
          <a:bodyPr wrap="square" lIns="0" tIns="0" rIns="0" bIns="0" rtlCol="0" anchor="ctr"/>
          <a:lstStyle/>
          <a:p>
            <a:pPr indent="0" marL="0">
              <a:buNone/>
            </a:pPr>
            <a:r>
              <a:rPr lang="en-US" sz="1100" dirty="0">
                <a:solidFill>
                  <a:srgbClr val="4A5A70"/>
                </a:solidFill>
                <a:latin typeface="Calibri" pitchFamily="34" charset="0"/>
                <a:ea typeface="Calibri" pitchFamily="34" charset="-122"/>
                <a:cs typeface="Calibri" pitchFamily="34" charset="-120"/>
              </a:rPr>
              <a:t>DAX ECL</a:t>
            </a:r>
            <a:endParaRPr lang="en-US" sz="1100" dirty="0"/>
          </a:p>
        </p:txBody>
      </p:sp>
      <p:sp>
        <p:nvSpPr>
          <p:cNvPr id="34" name="Text 30"/>
          <p:cNvSpPr txBox="1"/>
          <p:nvPr/>
        </p:nvSpPr>
        <p:spPr>
          <a:xfrm>
            <a:off x="6492240" y="3108960"/>
            <a:ext cx="2057400" cy="292608"/>
          </a:xfrm>
          <a:prstGeom prst="rect">
            <a:avLst/>
          </a:prstGeom>
          <a:noFill/>
          <a:ln/>
        </p:spPr>
        <p:txBody>
          <a:bodyPr wrap="square" lIns="0" tIns="0" rIns="0" bIns="0" rtlCol="0" anchor="ctr"/>
          <a:lstStyle/>
          <a:p>
            <a:pPr algn="r" indent="0" marL="0">
              <a:buNone/>
            </a:pPr>
            <a:r>
              <a:rPr lang="en-US" sz="1400" b="1" dirty="0">
                <a:solidFill>
                  <a:srgbClr val="0B1F3A"/>
                </a:solidFill>
                <a:latin typeface="Calibri" pitchFamily="34" charset="0"/>
                <a:ea typeface="Calibri" pitchFamily="34" charset="-122"/>
                <a:cs typeface="Calibri" pitchFamily="34" charset="-120"/>
              </a:rPr>
              <a:t>₹5,528,029</a:t>
            </a:r>
            <a:endParaRPr lang="en-US" sz="1400" dirty="0"/>
          </a:p>
        </p:txBody>
      </p:sp>
      <p:sp>
        <p:nvSpPr>
          <p:cNvPr id="35" name="Text 31"/>
          <p:cNvSpPr txBox="1"/>
          <p:nvPr/>
        </p:nvSpPr>
        <p:spPr>
          <a:xfrm>
            <a:off x="5394960" y="3493008"/>
            <a:ext cx="1188720" cy="292608"/>
          </a:xfrm>
          <a:prstGeom prst="rect">
            <a:avLst/>
          </a:prstGeom>
          <a:noFill/>
          <a:ln/>
        </p:spPr>
        <p:txBody>
          <a:bodyPr wrap="square" lIns="0" tIns="0" rIns="0" bIns="0" rtlCol="0" anchor="ctr"/>
          <a:lstStyle/>
          <a:p>
            <a:pPr indent="0" marL="0">
              <a:buNone/>
            </a:pPr>
            <a:r>
              <a:rPr lang="en-US" sz="1100" dirty="0">
                <a:solidFill>
                  <a:srgbClr val="4A5A70"/>
                </a:solidFill>
                <a:latin typeface="Calibri" pitchFamily="34" charset="0"/>
                <a:ea typeface="Calibri" pitchFamily="34" charset="-122"/>
                <a:cs typeface="Calibri" pitchFamily="34" charset="-120"/>
              </a:rPr>
              <a:t>Excel ECL</a:t>
            </a:r>
            <a:endParaRPr lang="en-US" sz="1100" dirty="0"/>
          </a:p>
        </p:txBody>
      </p:sp>
      <p:sp>
        <p:nvSpPr>
          <p:cNvPr id="36" name="Text 32"/>
          <p:cNvSpPr txBox="1"/>
          <p:nvPr/>
        </p:nvSpPr>
        <p:spPr>
          <a:xfrm>
            <a:off x="6492240" y="3493008"/>
            <a:ext cx="2057400" cy="292608"/>
          </a:xfrm>
          <a:prstGeom prst="rect">
            <a:avLst/>
          </a:prstGeom>
          <a:noFill/>
          <a:ln/>
        </p:spPr>
        <p:txBody>
          <a:bodyPr wrap="square" lIns="0" tIns="0" rIns="0" bIns="0" rtlCol="0" anchor="ctr"/>
          <a:lstStyle/>
          <a:p>
            <a:pPr algn="r" indent="0" marL="0">
              <a:buNone/>
            </a:pPr>
            <a:r>
              <a:rPr lang="en-US" sz="1400" b="1" dirty="0">
                <a:solidFill>
                  <a:srgbClr val="0B1F3A"/>
                </a:solidFill>
                <a:latin typeface="Calibri" pitchFamily="34" charset="0"/>
                <a:ea typeface="Calibri" pitchFamily="34" charset="-122"/>
                <a:cs typeface="Calibri" pitchFamily="34" charset="-120"/>
              </a:rPr>
              <a:t>₹5,528,091</a:t>
            </a:r>
            <a:endParaRPr lang="en-US" sz="1400" dirty="0"/>
          </a:p>
        </p:txBody>
      </p:sp>
      <p:sp>
        <p:nvSpPr>
          <p:cNvPr id="37" name="Text 33"/>
          <p:cNvSpPr txBox="1"/>
          <p:nvPr/>
        </p:nvSpPr>
        <p:spPr>
          <a:xfrm>
            <a:off x="5394960" y="3877056"/>
            <a:ext cx="1188720" cy="292608"/>
          </a:xfrm>
          <a:prstGeom prst="rect">
            <a:avLst/>
          </a:prstGeom>
          <a:noFill/>
          <a:ln/>
        </p:spPr>
        <p:txBody>
          <a:bodyPr wrap="square" lIns="0" tIns="0" rIns="0" bIns="0" rtlCol="0" anchor="ctr"/>
          <a:lstStyle/>
          <a:p>
            <a:pPr indent="0" marL="0">
              <a:buNone/>
            </a:pPr>
            <a:r>
              <a:rPr lang="en-US" sz="1100" dirty="0">
                <a:solidFill>
                  <a:srgbClr val="4A5A70"/>
                </a:solidFill>
                <a:latin typeface="Calibri" pitchFamily="34" charset="0"/>
                <a:ea typeface="Calibri" pitchFamily="34" charset="-122"/>
                <a:cs typeface="Calibri" pitchFamily="34" charset="-120"/>
              </a:rPr>
              <a:t>Variance</a:t>
            </a:r>
            <a:endParaRPr lang="en-US" sz="1100" dirty="0"/>
          </a:p>
        </p:txBody>
      </p:sp>
      <p:sp>
        <p:nvSpPr>
          <p:cNvPr id="38" name="Text 34"/>
          <p:cNvSpPr txBox="1"/>
          <p:nvPr/>
        </p:nvSpPr>
        <p:spPr>
          <a:xfrm>
            <a:off x="6492240" y="3877056"/>
            <a:ext cx="2057400" cy="292608"/>
          </a:xfrm>
          <a:prstGeom prst="rect">
            <a:avLst/>
          </a:prstGeom>
          <a:noFill/>
          <a:ln/>
        </p:spPr>
        <p:txBody>
          <a:bodyPr wrap="square" lIns="0" tIns="0" rIns="0" bIns="0" rtlCol="0" anchor="ctr"/>
          <a:lstStyle/>
          <a:p>
            <a:pPr algn="r" indent="0" marL="0">
              <a:buNone/>
            </a:pPr>
            <a:r>
              <a:rPr lang="en-US" sz="1300" b="1" dirty="0">
                <a:solidFill>
                  <a:srgbClr val="2E9E6B"/>
                </a:solidFill>
                <a:latin typeface="Calibri" pitchFamily="34" charset="0"/>
                <a:ea typeface="Calibri" pitchFamily="34" charset="-122"/>
                <a:cs typeface="Calibri" pitchFamily="34" charset="-120"/>
              </a:rPr>
              <a:t>−₹62  (−0.0011%)</a:t>
            </a:r>
            <a:endParaRPr lang="en-US" sz="1300" dirty="0"/>
          </a:p>
        </p:txBody>
      </p:sp>
      <p:sp>
        <p:nvSpPr>
          <p:cNvPr id="39" name="Text 35"/>
          <p:cNvSpPr txBox="1"/>
          <p:nvPr/>
        </p:nvSpPr>
        <p:spPr>
          <a:xfrm>
            <a:off x="5394960" y="4224528"/>
            <a:ext cx="3108960" cy="384048"/>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Stage 1 12M ECL and Lifetime ECL are calculated in the model from IFRS 9 staging.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06  ·  SCENARIOS</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Stress Testing</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7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DAX Measure Dictionary (Stress Adjusted ECL, Moderate / Severe / Crisis Stress ECL); ECL Crosscheck.</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34440"/>
            <a:ext cx="3657600" cy="1097280"/>
          </a:xfrm>
          <a:prstGeom prst="roundRect">
            <a:avLst>
              <a:gd name="adj" fmla="val 6667"/>
            </a:avLst>
          </a:prstGeom>
          <a:solidFill>
            <a:srgbClr val="0B1F3A"/>
          </a:solidFill>
          <a:ln w="9525">
            <a:solidFill>
              <a:srgbClr val="0B1F3A"/>
            </a:solidFill>
            <a:prstDash val="solid"/>
          </a:ln>
          <a:effectLst>
            <a:outerShdw sx="100000" sy="100000" kx="0" ky="0" algn="bl" rotWithShape="0" blurRad="101600" dist="25400" dir="5400000">
              <a:srgbClr val="0B1F3A">
                <a:alpha val="10000"/>
              </a:srgbClr>
            </a:outerShdw>
          </a:effectLst>
        </p:spPr>
      </p:sp>
      <p:sp>
        <p:nvSpPr>
          <p:cNvPr id="8" name="Text 6"/>
          <p:cNvSpPr txBox="1"/>
          <p:nvPr/>
        </p:nvSpPr>
        <p:spPr>
          <a:xfrm>
            <a:off x="640080" y="1353312"/>
            <a:ext cx="1828800" cy="201168"/>
          </a:xfrm>
          <a:prstGeom prst="rect">
            <a:avLst/>
          </a:prstGeom>
          <a:noFill/>
          <a:ln/>
        </p:spPr>
        <p:txBody>
          <a:bodyPr wrap="square" lIns="0" tIns="0" rIns="0" bIns="0" rtlCol="0" anchor="t"/>
          <a:lstStyle/>
          <a:p>
            <a:pPr indent="0" marL="0">
              <a:buNone/>
            </a:pPr>
            <a:r>
              <a:rPr lang="en-US" sz="1000" b="1" spc="200" kern="0" dirty="0">
                <a:solidFill>
                  <a:srgbClr val="F2C811"/>
                </a:solidFill>
                <a:latin typeface="Calibri" pitchFamily="34" charset="0"/>
                <a:ea typeface="Calibri" pitchFamily="34" charset="-122"/>
                <a:cs typeface="Calibri" pitchFamily="34" charset="-120"/>
              </a:rPr>
              <a:t>PURPOSE</a:t>
            </a:r>
            <a:endParaRPr lang="en-US" sz="1000" dirty="0"/>
          </a:p>
        </p:txBody>
      </p:sp>
      <p:sp>
        <p:nvSpPr>
          <p:cNvPr id="9" name="Text 7"/>
          <p:cNvSpPr txBox="1"/>
          <p:nvPr/>
        </p:nvSpPr>
        <p:spPr>
          <a:xfrm>
            <a:off x="640080" y="1600200"/>
            <a:ext cx="329184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Show how changes in key portfolio assumptions move expected credit losses and trigger proximity.</a:t>
            </a:r>
            <a:endParaRPr lang="en-US" sz="1250" dirty="0"/>
          </a:p>
        </p:txBody>
      </p:sp>
      <p:sp>
        <p:nvSpPr>
          <p:cNvPr id="10" name="Shape 8"/>
          <p:cNvSpPr/>
          <p:nvPr/>
        </p:nvSpPr>
        <p:spPr>
          <a:xfrm>
            <a:off x="457200" y="2468880"/>
            <a:ext cx="3657600" cy="457200"/>
          </a:xfrm>
          <a:prstGeom prst="roundRect">
            <a:avLst>
              <a:gd name="adj" fmla="val 1600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1" name="Shape 9"/>
          <p:cNvSpPr/>
          <p:nvPr/>
        </p:nvSpPr>
        <p:spPr>
          <a:xfrm>
            <a:off x="566928" y="2542032"/>
            <a:ext cx="310896" cy="310896"/>
          </a:xfrm>
          <a:prstGeom prst="ellipse">
            <a:avLst/>
          </a:prstGeom>
          <a:solidFill>
            <a:srgbClr val="1F5FBF"/>
          </a:solidFill>
          <a:ln w="12700">
            <a:solidFill>
              <a:srgbClr val="1F5FBF"/>
            </a:solidFill>
            <a:prstDash val="solid"/>
          </a:ln>
        </p:spPr>
      </p:sp>
      <p:pic>
        <p:nvPicPr>
          <p:cNvPr id="12" name="Image 0" descr="preencoded.png">    </p:cNvPr>
          <p:cNvPicPr>
            <a:picLocks noChangeAspect="1"/>
          </p:cNvPicPr>
          <p:nvPr/>
        </p:nvPicPr>
        <p:blipFill>
          <a:blip r:embed="rId1"/>
          <a:stretch>
            <a:fillRect/>
          </a:stretch>
        </p:blipFill>
        <p:spPr>
          <a:xfrm>
            <a:off x="644652" y="2619756"/>
            <a:ext cx="155448" cy="155448"/>
          </a:xfrm>
          <a:prstGeom prst="rect">
            <a:avLst/>
          </a:prstGeom>
        </p:spPr>
      </p:pic>
      <p:sp>
        <p:nvSpPr>
          <p:cNvPr id="13" name="Text 10"/>
          <p:cNvSpPr txBox="1"/>
          <p:nvPr/>
        </p:nvSpPr>
        <p:spPr>
          <a:xfrm>
            <a:off x="987552" y="2505456"/>
            <a:ext cx="301752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Default Rate Multiplier</a:t>
            </a:r>
            <a:endParaRPr lang="en-US" sz="1150" dirty="0"/>
          </a:p>
        </p:txBody>
      </p:sp>
      <p:sp>
        <p:nvSpPr>
          <p:cNvPr id="14" name="Text 11"/>
          <p:cNvSpPr txBox="1"/>
          <p:nvPr/>
        </p:nvSpPr>
        <p:spPr>
          <a:xfrm>
            <a:off x="987552" y="2715768"/>
            <a:ext cx="30175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Scales ECL</a:t>
            </a:r>
            <a:endParaRPr lang="en-US" sz="950" dirty="0"/>
          </a:p>
        </p:txBody>
      </p:sp>
      <p:sp>
        <p:nvSpPr>
          <p:cNvPr id="15" name="Shape 12"/>
          <p:cNvSpPr/>
          <p:nvPr/>
        </p:nvSpPr>
        <p:spPr>
          <a:xfrm>
            <a:off x="457200" y="3017520"/>
            <a:ext cx="3657600" cy="457200"/>
          </a:xfrm>
          <a:prstGeom prst="roundRect">
            <a:avLst>
              <a:gd name="adj" fmla="val 1600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6" name="Shape 13"/>
          <p:cNvSpPr/>
          <p:nvPr/>
        </p:nvSpPr>
        <p:spPr>
          <a:xfrm>
            <a:off x="566928" y="3090672"/>
            <a:ext cx="310896" cy="310896"/>
          </a:xfrm>
          <a:prstGeom prst="ellipse">
            <a:avLst/>
          </a:prstGeom>
          <a:solidFill>
            <a:srgbClr val="1F5FBF"/>
          </a:solidFill>
          <a:ln w="12700">
            <a:solidFill>
              <a:srgbClr val="1F5FBF"/>
            </a:solidFill>
            <a:prstDash val="solid"/>
          </a:ln>
        </p:spPr>
      </p:sp>
      <p:pic>
        <p:nvPicPr>
          <p:cNvPr id="17" name="Image 1" descr="preencoded.png">    </p:cNvPr>
          <p:cNvPicPr>
            <a:picLocks noChangeAspect="1"/>
          </p:cNvPicPr>
          <p:nvPr/>
        </p:nvPicPr>
        <p:blipFill>
          <a:blip r:embed="rId2"/>
          <a:stretch>
            <a:fillRect/>
          </a:stretch>
        </p:blipFill>
        <p:spPr>
          <a:xfrm>
            <a:off x="644652" y="3168396"/>
            <a:ext cx="155448" cy="155448"/>
          </a:xfrm>
          <a:prstGeom prst="rect">
            <a:avLst/>
          </a:prstGeom>
        </p:spPr>
      </p:pic>
      <p:sp>
        <p:nvSpPr>
          <p:cNvPr id="18" name="Text 14"/>
          <p:cNvSpPr txBox="1"/>
          <p:nvPr/>
        </p:nvSpPr>
        <p:spPr>
          <a:xfrm>
            <a:off x="987552" y="3054096"/>
            <a:ext cx="301752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Recovery Rate Haircut</a:t>
            </a:r>
            <a:endParaRPr lang="en-US" sz="1150" dirty="0"/>
          </a:p>
        </p:txBody>
      </p:sp>
      <p:sp>
        <p:nvSpPr>
          <p:cNvPr id="19" name="Text 15"/>
          <p:cNvSpPr txBox="1"/>
          <p:nvPr/>
        </p:nvSpPr>
        <p:spPr>
          <a:xfrm>
            <a:off x="987552" y="3264408"/>
            <a:ext cx="30175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Lowers recoveries → higher LGD</a:t>
            </a:r>
            <a:endParaRPr lang="en-US" sz="950" dirty="0"/>
          </a:p>
        </p:txBody>
      </p:sp>
      <p:sp>
        <p:nvSpPr>
          <p:cNvPr id="20" name="Shape 16"/>
          <p:cNvSpPr/>
          <p:nvPr/>
        </p:nvSpPr>
        <p:spPr>
          <a:xfrm>
            <a:off x="457200" y="3566160"/>
            <a:ext cx="3657600" cy="457200"/>
          </a:xfrm>
          <a:prstGeom prst="roundRect">
            <a:avLst>
              <a:gd name="adj" fmla="val 1600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1" name="Shape 17"/>
          <p:cNvSpPr/>
          <p:nvPr/>
        </p:nvSpPr>
        <p:spPr>
          <a:xfrm>
            <a:off x="566928" y="3639312"/>
            <a:ext cx="310896" cy="310896"/>
          </a:xfrm>
          <a:prstGeom prst="ellipse">
            <a:avLst/>
          </a:prstGeom>
          <a:solidFill>
            <a:srgbClr val="1F5FBF"/>
          </a:solidFill>
          <a:ln w="12700">
            <a:solidFill>
              <a:srgbClr val="1F5FBF"/>
            </a:solidFill>
            <a:prstDash val="solid"/>
          </a:ln>
        </p:spPr>
      </p:sp>
      <p:pic>
        <p:nvPicPr>
          <p:cNvPr id="22" name="Image 2" descr="preencoded.png">    </p:cNvPr>
          <p:cNvPicPr>
            <a:picLocks noChangeAspect="1"/>
          </p:cNvPicPr>
          <p:nvPr/>
        </p:nvPicPr>
        <p:blipFill>
          <a:blip r:embed="rId3"/>
          <a:stretch>
            <a:fillRect/>
          </a:stretch>
        </p:blipFill>
        <p:spPr>
          <a:xfrm>
            <a:off x="644652" y="3717036"/>
            <a:ext cx="155448" cy="155448"/>
          </a:xfrm>
          <a:prstGeom prst="rect">
            <a:avLst/>
          </a:prstGeom>
        </p:spPr>
      </p:pic>
      <p:sp>
        <p:nvSpPr>
          <p:cNvPr id="23" name="Text 18"/>
          <p:cNvSpPr txBox="1"/>
          <p:nvPr/>
        </p:nvSpPr>
        <p:spPr>
          <a:xfrm>
            <a:off x="987552" y="3602736"/>
            <a:ext cx="301752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Prepayment Speed Change</a:t>
            </a:r>
            <a:endParaRPr lang="en-US" sz="1150" dirty="0"/>
          </a:p>
        </p:txBody>
      </p:sp>
      <p:sp>
        <p:nvSpPr>
          <p:cNvPr id="24" name="Text 19"/>
          <p:cNvSpPr txBox="1"/>
          <p:nvPr/>
        </p:nvSpPr>
        <p:spPr>
          <a:xfrm>
            <a:off x="987552" y="3813048"/>
            <a:ext cx="30175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What-if prepayment assumption</a:t>
            </a:r>
            <a:endParaRPr lang="en-US" sz="950" dirty="0"/>
          </a:p>
        </p:txBody>
      </p:sp>
      <p:sp>
        <p:nvSpPr>
          <p:cNvPr id="25" name="Shape 20"/>
          <p:cNvSpPr/>
          <p:nvPr/>
        </p:nvSpPr>
        <p:spPr>
          <a:xfrm>
            <a:off x="457200" y="4114800"/>
            <a:ext cx="3657600" cy="457200"/>
          </a:xfrm>
          <a:prstGeom prst="roundRect">
            <a:avLst>
              <a:gd name="adj" fmla="val 16000"/>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6" name="Shape 21"/>
          <p:cNvSpPr/>
          <p:nvPr/>
        </p:nvSpPr>
        <p:spPr>
          <a:xfrm>
            <a:off x="566928" y="4187952"/>
            <a:ext cx="310896" cy="310896"/>
          </a:xfrm>
          <a:prstGeom prst="ellipse">
            <a:avLst/>
          </a:prstGeom>
          <a:solidFill>
            <a:srgbClr val="1F5FBF"/>
          </a:solidFill>
          <a:ln w="12700">
            <a:solidFill>
              <a:srgbClr val="1F5FBF"/>
            </a:solidFill>
            <a:prstDash val="solid"/>
          </a:ln>
        </p:spPr>
      </p:sp>
      <p:pic>
        <p:nvPicPr>
          <p:cNvPr id="27" name="Image 3" descr="preencoded.png">    </p:cNvPr>
          <p:cNvPicPr>
            <a:picLocks noChangeAspect="1"/>
          </p:cNvPicPr>
          <p:nvPr/>
        </p:nvPicPr>
        <p:blipFill>
          <a:blip r:embed="rId4"/>
          <a:stretch>
            <a:fillRect/>
          </a:stretch>
        </p:blipFill>
        <p:spPr>
          <a:xfrm>
            <a:off x="644652" y="4265676"/>
            <a:ext cx="155448" cy="155448"/>
          </a:xfrm>
          <a:prstGeom prst="rect">
            <a:avLst/>
          </a:prstGeom>
        </p:spPr>
      </p:pic>
      <p:sp>
        <p:nvSpPr>
          <p:cNvPr id="28" name="Text 22"/>
          <p:cNvSpPr txBox="1"/>
          <p:nvPr/>
        </p:nvSpPr>
        <p:spPr>
          <a:xfrm>
            <a:off x="987552" y="4151376"/>
            <a:ext cx="301752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Interest Rate Shock</a:t>
            </a:r>
            <a:endParaRPr lang="en-US" sz="1150" dirty="0"/>
          </a:p>
        </p:txBody>
      </p:sp>
      <p:sp>
        <p:nvSpPr>
          <p:cNvPr id="29" name="Text 23"/>
          <p:cNvSpPr txBox="1"/>
          <p:nvPr/>
        </p:nvSpPr>
        <p:spPr>
          <a:xfrm>
            <a:off x="987552" y="4361688"/>
            <a:ext cx="30175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What-if interest-rate assumption</a:t>
            </a:r>
            <a:endParaRPr lang="en-US" sz="950" dirty="0"/>
          </a:p>
        </p:txBody>
      </p:sp>
      <p:sp>
        <p:nvSpPr>
          <p:cNvPr id="30" name="Shape 24"/>
          <p:cNvSpPr/>
          <p:nvPr/>
        </p:nvSpPr>
        <p:spPr>
          <a:xfrm>
            <a:off x="4297680" y="1234440"/>
            <a:ext cx="4389120" cy="3429000"/>
          </a:xfrm>
          <a:prstGeom prst="roundRect">
            <a:avLst>
              <a:gd name="adj" fmla="val 2133"/>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1" name="Text 25"/>
          <p:cNvSpPr txBox="1"/>
          <p:nvPr/>
        </p:nvSpPr>
        <p:spPr>
          <a:xfrm>
            <a:off x="4480560" y="1371600"/>
            <a:ext cx="4023360" cy="256032"/>
          </a:xfrm>
          <a:prstGeom prst="rect">
            <a:avLst/>
          </a:prstGeom>
          <a:noFill/>
          <a:ln/>
        </p:spPr>
        <p:txBody>
          <a:bodyPr wrap="square" lIns="0" tIns="0" rIns="0" bIns="0" rtlCol="0" anchor="t"/>
          <a:lstStyle/>
          <a:p>
            <a:pPr indent="0" marL="0">
              <a:buNone/>
            </a:pPr>
            <a:r>
              <a:rPr lang="en-US" sz="1250" b="1" dirty="0">
                <a:solidFill>
                  <a:srgbClr val="0B1F3A"/>
                </a:solidFill>
                <a:latin typeface="Calibri" pitchFamily="34" charset="0"/>
                <a:ea typeface="Calibri" pitchFamily="34" charset="-122"/>
                <a:cs typeface="Calibri" pitchFamily="34" charset="-120"/>
              </a:rPr>
              <a:t>ECL by scenario (₹ M)</a:t>
            </a:r>
            <a:endParaRPr lang="en-US" sz="1250" dirty="0"/>
          </a:p>
        </p:txBody>
      </p:sp>
      <p:graphicFrame>
        <p:nvGraphicFramePr>
          <p:cNvPr id="32" name="Chart 0" descr=""/>
          <p:cNvGraphicFramePr/>
          <p:nvPr/>
        </p:nvGraphicFramePr>
        <p:xfrm>
          <a:off x="4389120" y="1691640"/>
          <a:ext cx="4206240" cy="2377440"/>
        </p:xfrm>
        <a:graphic xmlns:a="http://schemas.openxmlformats.org/drawingml/2006/main">
          <a:graphicData uri="http://schemas.openxmlformats.org/drawingml/2006/chart">
            <c:chart xmlns:c="http://schemas.openxmlformats.org/drawingml/2006/chart" r:id="rId5"/>
          </a:graphicData>
        </a:graphic>
      </p:graphicFrame>
      <p:sp>
        <p:nvSpPr>
          <p:cNvPr id="33" name="Text 26"/>
          <p:cNvSpPr txBox="1"/>
          <p:nvPr/>
        </p:nvSpPr>
        <p:spPr>
          <a:xfrm>
            <a:off x="4480560" y="4160520"/>
            <a:ext cx="4023360" cy="45720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Scenario ECL = base ECL (₹5.53M) × scenario multiplier, as defined in the DAX scenario measures. What-if parameters are set interactively on the dashboard.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07  ·  STRUCTURE &amp; REPORTING</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Waterfall, Investor Reporting &amp; Data Tape</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8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DAX Measure Dictionary (tranche, OC and trigger measures); Waterfall Validation sheet; data tape export.</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Text 5"/>
          <p:cNvSpPr txBox="1"/>
          <p:nvPr/>
        </p:nvSpPr>
        <p:spPr>
          <a:xfrm>
            <a:off x="457200" y="1188720"/>
            <a:ext cx="274320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COLLECTIONS WATERFALL</a:t>
            </a:r>
            <a:endParaRPr lang="en-US" sz="1000" dirty="0"/>
          </a:p>
        </p:txBody>
      </p:sp>
      <p:sp>
        <p:nvSpPr>
          <p:cNvPr id="8" name="Shape 6"/>
          <p:cNvSpPr/>
          <p:nvPr/>
        </p:nvSpPr>
        <p:spPr>
          <a:xfrm>
            <a:off x="457200" y="1444752"/>
            <a:ext cx="2743200" cy="566928"/>
          </a:xfrm>
          <a:prstGeom prst="roundRect">
            <a:avLst>
              <a:gd name="adj" fmla="val 11290"/>
            </a:avLst>
          </a:prstGeom>
          <a:solidFill>
            <a:srgbClr val="0B1F3A"/>
          </a:solidFill>
          <a:ln w="12700">
            <a:solidFill>
              <a:srgbClr val="0B1F3A"/>
            </a:solidFill>
            <a:prstDash val="solid"/>
          </a:ln>
          <a:effectLst>
            <a:outerShdw sx="100000" sy="100000" kx="0" ky="0" algn="bl" rotWithShape="0" blurRad="101600" dist="25400" dir="5400000">
              <a:srgbClr val="0B1F3A">
                <a:alpha val="10000"/>
              </a:srgbClr>
            </a:outerShdw>
          </a:effectLst>
        </p:spPr>
      </p:sp>
      <p:sp>
        <p:nvSpPr>
          <p:cNvPr id="9" name="Text 7"/>
          <p:cNvSpPr txBox="1"/>
          <p:nvPr/>
        </p:nvSpPr>
        <p:spPr>
          <a:xfrm>
            <a:off x="594360" y="1508760"/>
            <a:ext cx="24688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Total Collections</a:t>
            </a:r>
            <a:endParaRPr lang="en-US" sz="1200" dirty="0"/>
          </a:p>
        </p:txBody>
      </p:sp>
      <p:sp>
        <p:nvSpPr>
          <p:cNvPr id="10" name="Text 8"/>
          <p:cNvSpPr txBox="1"/>
          <p:nvPr/>
        </p:nvSpPr>
        <p:spPr>
          <a:xfrm>
            <a:off x="594360" y="1755648"/>
            <a:ext cx="2468880" cy="201168"/>
          </a:xfrm>
          <a:prstGeom prst="rect">
            <a:avLst/>
          </a:prstGeom>
          <a:noFill/>
          <a:ln/>
        </p:spPr>
        <p:txBody>
          <a:bodyPr wrap="square" lIns="0" tIns="0" rIns="0" bIns="0" rtlCol="0" anchor="t"/>
          <a:lstStyle/>
          <a:p>
            <a:pPr indent="0" marL="0">
              <a:buNone/>
            </a:pPr>
            <a:r>
              <a:rPr lang="en-US" sz="1200" b="1" dirty="0">
                <a:solidFill>
                  <a:srgbClr val="C9D6E8"/>
                </a:solidFill>
                <a:latin typeface="Calibri" pitchFamily="34" charset="0"/>
                <a:ea typeface="Calibri" pitchFamily="34" charset="-122"/>
                <a:cs typeface="Calibri" pitchFamily="34" charset="-120"/>
              </a:rPr>
              <a:t>₹11.15M</a:t>
            </a:r>
            <a:endParaRPr lang="en-US" sz="1200" dirty="0"/>
          </a:p>
        </p:txBody>
      </p:sp>
      <p:sp>
        <p:nvSpPr>
          <p:cNvPr id="11" name="Shape 9"/>
          <p:cNvSpPr/>
          <p:nvPr/>
        </p:nvSpPr>
        <p:spPr>
          <a:xfrm>
            <a:off x="1719072" y="2039112"/>
            <a:ext cx="219456" cy="137160"/>
          </a:xfrm>
          <a:prstGeom prst="downArrow">
            <a:avLst/>
          </a:prstGeom>
          <a:solidFill>
            <a:srgbClr val="7A8799"/>
          </a:solidFill>
          <a:ln w="12700">
            <a:solidFill>
              <a:srgbClr val="7A8799"/>
            </a:solidFill>
            <a:prstDash val="solid"/>
          </a:ln>
        </p:spPr>
      </p:sp>
      <p:sp>
        <p:nvSpPr>
          <p:cNvPr id="12" name="Shape 10"/>
          <p:cNvSpPr/>
          <p:nvPr/>
        </p:nvSpPr>
        <p:spPr>
          <a:xfrm>
            <a:off x="457200" y="2194560"/>
            <a:ext cx="2743200" cy="566928"/>
          </a:xfrm>
          <a:prstGeom prst="roundRect">
            <a:avLst>
              <a:gd name="adj" fmla="val 11290"/>
            </a:avLst>
          </a:prstGeom>
          <a:solidFill>
            <a:srgbClr val="1F5FBF"/>
          </a:solidFill>
          <a:ln w="12700">
            <a:solidFill>
              <a:srgbClr val="1F5FBF"/>
            </a:solidFill>
            <a:prstDash val="solid"/>
          </a:ln>
          <a:effectLst>
            <a:outerShdw sx="100000" sy="100000" kx="0" ky="0" algn="bl" rotWithShape="0" blurRad="101600" dist="25400" dir="5400000">
              <a:srgbClr val="0B1F3A">
                <a:alpha val="10000"/>
              </a:srgbClr>
            </a:outerShdw>
          </a:effectLst>
        </p:spPr>
      </p:sp>
      <p:sp>
        <p:nvSpPr>
          <p:cNvPr id="13" name="Text 11"/>
          <p:cNvSpPr txBox="1"/>
          <p:nvPr/>
        </p:nvSpPr>
        <p:spPr>
          <a:xfrm>
            <a:off x="594360" y="2258568"/>
            <a:ext cx="24688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Senior Tranche</a:t>
            </a:r>
            <a:endParaRPr lang="en-US" sz="1200" dirty="0"/>
          </a:p>
        </p:txBody>
      </p:sp>
      <p:sp>
        <p:nvSpPr>
          <p:cNvPr id="14" name="Text 12"/>
          <p:cNvSpPr txBox="1"/>
          <p:nvPr/>
        </p:nvSpPr>
        <p:spPr>
          <a:xfrm>
            <a:off x="594360" y="2505456"/>
            <a:ext cx="2468880" cy="201168"/>
          </a:xfrm>
          <a:prstGeom prst="rect">
            <a:avLst/>
          </a:prstGeom>
          <a:noFill/>
          <a:ln/>
        </p:spPr>
        <p:txBody>
          <a:bodyPr wrap="square" lIns="0" tIns="0" rIns="0" bIns="0" rtlCol="0" anchor="t"/>
          <a:lstStyle/>
          <a:p>
            <a:pPr indent="0" marL="0">
              <a:buNone/>
            </a:pPr>
            <a:r>
              <a:rPr lang="en-US" sz="950" dirty="0">
                <a:solidFill>
                  <a:srgbClr val="DCE8FA"/>
                </a:solidFill>
                <a:latin typeface="Calibri" pitchFamily="34" charset="0"/>
                <a:ea typeface="Calibri" pitchFamily="34" charset="-122"/>
                <a:cs typeface="Calibri" pitchFamily="34" charset="-120"/>
              </a:rPr>
              <a:t>Up to 70% of Total Outstanding</a:t>
            </a:r>
            <a:endParaRPr lang="en-US" sz="950" dirty="0"/>
          </a:p>
        </p:txBody>
      </p:sp>
      <p:sp>
        <p:nvSpPr>
          <p:cNvPr id="15" name="Shape 13"/>
          <p:cNvSpPr/>
          <p:nvPr/>
        </p:nvSpPr>
        <p:spPr>
          <a:xfrm>
            <a:off x="1719072" y="2788920"/>
            <a:ext cx="219456" cy="137160"/>
          </a:xfrm>
          <a:prstGeom prst="downArrow">
            <a:avLst/>
          </a:prstGeom>
          <a:solidFill>
            <a:srgbClr val="7A8799"/>
          </a:solidFill>
          <a:ln w="12700">
            <a:solidFill>
              <a:srgbClr val="7A8799"/>
            </a:solidFill>
            <a:prstDash val="solid"/>
          </a:ln>
        </p:spPr>
      </p:sp>
      <p:sp>
        <p:nvSpPr>
          <p:cNvPr id="16" name="Shape 14"/>
          <p:cNvSpPr/>
          <p:nvPr/>
        </p:nvSpPr>
        <p:spPr>
          <a:xfrm>
            <a:off x="457200" y="2944368"/>
            <a:ext cx="2743200" cy="566928"/>
          </a:xfrm>
          <a:prstGeom prst="roundRect">
            <a:avLst>
              <a:gd name="adj" fmla="val 11290"/>
            </a:avLst>
          </a:prstGeom>
          <a:solidFill>
            <a:srgbClr val="118DFF"/>
          </a:solidFill>
          <a:ln w="12700">
            <a:solidFill>
              <a:srgbClr val="118DFF"/>
            </a:solidFill>
            <a:prstDash val="solid"/>
          </a:ln>
          <a:effectLst>
            <a:outerShdw sx="100000" sy="100000" kx="0" ky="0" algn="bl" rotWithShape="0" blurRad="101600" dist="25400" dir="5400000">
              <a:srgbClr val="0B1F3A">
                <a:alpha val="10000"/>
              </a:srgbClr>
            </a:outerShdw>
          </a:effectLst>
        </p:spPr>
      </p:sp>
      <p:sp>
        <p:nvSpPr>
          <p:cNvPr id="17" name="Text 15"/>
          <p:cNvSpPr txBox="1"/>
          <p:nvPr/>
        </p:nvSpPr>
        <p:spPr>
          <a:xfrm>
            <a:off x="594360" y="3008376"/>
            <a:ext cx="24688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Mezzanine Tranche</a:t>
            </a:r>
            <a:endParaRPr lang="en-US" sz="1200" dirty="0"/>
          </a:p>
        </p:txBody>
      </p:sp>
      <p:sp>
        <p:nvSpPr>
          <p:cNvPr id="18" name="Text 16"/>
          <p:cNvSpPr txBox="1"/>
          <p:nvPr/>
        </p:nvSpPr>
        <p:spPr>
          <a:xfrm>
            <a:off x="594360" y="3255264"/>
            <a:ext cx="2468880" cy="201168"/>
          </a:xfrm>
          <a:prstGeom prst="rect">
            <a:avLst/>
          </a:prstGeom>
          <a:noFill/>
          <a:ln/>
        </p:spPr>
        <p:txBody>
          <a:bodyPr wrap="square" lIns="0" tIns="0" rIns="0" bIns="0" rtlCol="0" anchor="t"/>
          <a:lstStyle/>
          <a:p>
            <a:pPr indent="0" marL="0">
              <a:buNone/>
            </a:pPr>
            <a:r>
              <a:rPr lang="en-US" sz="950" dirty="0">
                <a:solidFill>
                  <a:srgbClr val="E6F3FF"/>
                </a:solidFill>
                <a:latin typeface="Calibri" pitchFamily="34" charset="0"/>
                <a:ea typeface="Calibri" pitchFamily="34" charset="-122"/>
                <a:cs typeface="Calibri" pitchFamily="34" charset="-120"/>
              </a:rPr>
              <a:t>Next, up to 20% of Outstanding</a:t>
            </a:r>
            <a:endParaRPr lang="en-US" sz="950" dirty="0"/>
          </a:p>
        </p:txBody>
      </p:sp>
      <p:sp>
        <p:nvSpPr>
          <p:cNvPr id="19" name="Shape 17"/>
          <p:cNvSpPr/>
          <p:nvPr/>
        </p:nvSpPr>
        <p:spPr>
          <a:xfrm>
            <a:off x="1719072" y="3538728"/>
            <a:ext cx="219456" cy="137160"/>
          </a:xfrm>
          <a:prstGeom prst="downArrow">
            <a:avLst/>
          </a:prstGeom>
          <a:solidFill>
            <a:srgbClr val="7A8799"/>
          </a:solidFill>
          <a:ln w="12700">
            <a:solidFill>
              <a:srgbClr val="7A8799"/>
            </a:solidFill>
            <a:prstDash val="solid"/>
          </a:ln>
        </p:spPr>
      </p:sp>
      <p:sp>
        <p:nvSpPr>
          <p:cNvPr id="20" name="Shape 18"/>
          <p:cNvSpPr/>
          <p:nvPr/>
        </p:nvSpPr>
        <p:spPr>
          <a:xfrm>
            <a:off x="457200" y="3694176"/>
            <a:ext cx="2743200" cy="566928"/>
          </a:xfrm>
          <a:prstGeom prst="roundRect">
            <a:avLst>
              <a:gd name="adj" fmla="val 11290"/>
            </a:avLst>
          </a:prstGeom>
          <a:solidFill>
            <a:srgbClr val="7FB8F0"/>
          </a:solidFill>
          <a:ln w="12700">
            <a:solidFill>
              <a:srgbClr val="7FB8F0"/>
            </a:solidFill>
            <a:prstDash val="solid"/>
          </a:ln>
          <a:effectLst>
            <a:outerShdw sx="100000" sy="100000" kx="0" ky="0" algn="bl" rotWithShape="0" blurRad="101600" dist="25400" dir="5400000">
              <a:srgbClr val="0B1F3A">
                <a:alpha val="10000"/>
              </a:srgbClr>
            </a:outerShdw>
          </a:effectLst>
        </p:spPr>
      </p:sp>
      <p:sp>
        <p:nvSpPr>
          <p:cNvPr id="21" name="Text 19"/>
          <p:cNvSpPr txBox="1"/>
          <p:nvPr/>
        </p:nvSpPr>
        <p:spPr>
          <a:xfrm>
            <a:off x="594360" y="3758184"/>
            <a:ext cx="2468880" cy="237744"/>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Equity Residual</a:t>
            </a:r>
            <a:endParaRPr lang="en-US" sz="1200" dirty="0"/>
          </a:p>
        </p:txBody>
      </p:sp>
      <p:sp>
        <p:nvSpPr>
          <p:cNvPr id="22" name="Text 20"/>
          <p:cNvSpPr txBox="1"/>
          <p:nvPr/>
        </p:nvSpPr>
        <p:spPr>
          <a:xfrm>
            <a:off x="594360" y="4005072"/>
            <a:ext cx="2468880" cy="201168"/>
          </a:xfrm>
          <a:prstGeom prst="rect">
            <a:avLst/>
          </a:prstGeom>
          <a:noFill/>
          <a:ln/>
        </p:spPr>
        <p:txBody>
          <a:bodyPr wrap="square" lIns="0" tIns="0" rIns="0" bIns="0" rtlCol="0" anchor="t"/>
          <a:lstStyle/>
          <a:p>
            <a:pPr indent="0" marL="0">
              <a:buNone/>
            </a:pPr>
            <a:r>
              <a:rPr lang="en-US" sz="950" dirty="0">
                <a:solidFill>
                  <a:srgbClr val="0B1F3A"/>
                </a:solidFill>
                <a:latin typeface="Calibri" pitchFamily="34" charset="0"/>
                <a:ea typeface="Calibri" pitchFamily="34" charset="-122"/>
                <a:cs typeface="Calibri" pitchFamily="34" charset="-120"/>
              </a:rPr>
              <a:t>Remainder of collections</a:t>
            </a:r>
            <a:endParaRPr lang="en-US" sz="950" dirty="0"/>
          </a:p>
        </p:txBody>
      </p:sp>
      <p:sp>
        <p:nvSpPr>
          <p:cNvPr id="23" name="Text 21"/>
          <p:cNvSpPr txBox="1"/>
          <p:nvPr/>
        </p:nvSpPr>
        <p:spPr>
          <a:xfrm>
            <a:off x="457200" y="4315968"/>
            <a:ext cx="2743200" cy="36576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Tested scenario: Senior ₹11.15M · Mezzanine ₹0 · Equity ₹0 — matches Excel.</a:t>
            </a:r>
            <a:endParaRPr lang="en-US" sz="950" dirty="0"/>
          </a:p>
        </p:txBody>
      </p:sp>
      <p:sp>
        <p:nvSpPr>
          <p:cNvPr id="24" name="Shape 22"/>
          <p:cNvSpPr/>
          <p:nvPr/>
        </p:nvSpPr>
        <p:spPr>
          <a:xfrm>
            <a:off x="3383280" y="1188720"/>
            <a:ext cx="2834640" cy="1600200"/>
          </a:xfrm>
          <a:prstGeom prst="roundRect">
            <a:avLst>
              <a:gd name="adj" fmla="val 4571"/>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5" name="Text 23"/>
          <p:cNvSpPr txBox="1"/>
          <p:nvPr/>
        </p:nvSpPr>
        <p:spPr>
          <a:xfrm>
            <a:off x="3520440" y="1298448"/>
            <a:ext cx="256032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CREDIT ENHANCEMENT &amp; OC</a:t>
            </a:r>
            <a:endParaRPr lang="en-US" sz="1000" dirty="0"/>
          </a:p>
        </p:txBody>
      </p:sp>
      <p:sp>
        <p:nvSpPr>
          <p:cNvPr id="26" name="Text 24"/>
          <p:cNvSpPr txBox="1"/>
          <p:nvPr/>
        </p:nvSpPr>
        <p:spPr>
          <a:xfrm>
            <a:off x="3520440" y="1600200"/>
            <a:ext cx="2560320" cy="18288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Senior Credit Enhancement</a:t>
            </a:r>
            <a:endParaRPr lang="en-US" sz="1100" dirty="0"/>
          </a:p>
        </p:txBody>
      </p:sp>
      <p:sp>
        <p:nvSpPr>
          <p:cNvPr id="27" name="Text 25"/>
          <p:cNvSpPr txBox="1"/>
          <p:nvPr/>
        </p:nvSpPr>
        <p:spPr>
          <a:xfrm>
            <a:off x="3520440" y="1783080"/>
            <a:ext cx="25603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(Outstanding − Senior) ÷ Outstanding</a:t>
            </a:r>
            <a:endParaRPr lang="en-US" sz="950" dirty="0"/>
          </a:p>
        </p:txBody>
      </p:sp>
      <p:sp>
        <p:nvSpPr>
          <p:cNvPr id="28" name="Text 26"/>
          <p:cNvSpPr txBox="1"/>
          <p:nvPr/>
        </p:nvSpPr>
        <p:spPr>
          <a:xfrm>
            <a:off x="3520440" y="1993392"/>
            <a:ext cx="2560320" cy="18288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Senior OC Ratio</a:t>
            </a:r>
            <a:endParaRPr lang="en-US" sz="1100" dirty="0"/>
          </a:p>
        </p:txBody>
      </p:sp>
      <p:sp>
        <p:nvSpPr>
          <p:cNvPr id="29" name="Text 27"/>
          <p:cNvSpPr txBox="1"/>
          <p:nvPr/>
        </p:nvSpPr>
        <p:spPr>
          <a:xfrm>
            <a:off x="3520440" y="2176272"/>
            <a:ext cx="25603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Outstanding ÷ Senior allocation</a:t>
            </a:r>
            <a:endParaRPr lang="en-US" sz="950" dirty="0"/>
          </a:p>
        </p:txBody>
      </p:sp>
      <p:sp>
        <p:nvSpPr>
          <p:cNvPr id="30" name="Text 28"/>
          <p:cNvSpPr txBox="1"/>
          <p:nvPr/>
        </p:nvSpPr>
        <p:spPr>
          <a:xfrm>
            <a:off x="3520440" y="2386584"/>
            <a:ext cx="2560320" cy="18288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Mezzanine OC Ratio</a:t>
            </a:r>
            <a:endParaRPr lang="en-US" sz="1100" dirty="0"/>
          </a:p>
        </p:txBody>
      </p:sp>
      <p:sp>
        <p:nvSpPr>
          <p:cNvPr id="31" name="Text 29"/>
          <p:cNvSpPr txBox="1"/>
          <p:nvPr/>
        </p:nvSpPr>
        <p:spPr>
          <a:xfrm>
            <a:off x="3520440" y="2569464"/>
            <a:ext cx="2560320" cy="182880"/>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Outstanding ÷ Mezzanine allocation</a:t>
            </a:r>
            <a:endParaRPr lang="en-US" sz="950" dirty="0"/>
          </a:p>
        </p:txBody>
      </p:sp>
      <p:sp>
        <p:nvSpPr>
          <p:cNvPr id="32" name="Shape 30"/>
          <p:cNvSpPr/>
          <p:nvPr/>
        </p:nvSpPr>
        <p:spPr>
          <a:xfrm>
            <a:off x="3383280" y="2926080"/>
            <a:ext cx="2834640" cy="1737360"/>
          </a:xfrm>
          <a:prstGeom prst="roundRect">
            <a:avLst>
              <a:gd name="adj" fmla="val 4211"/>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33" name="Text 31"/>
          <p:cNvSpPr txBox="1"/>
          <p:nvPr/>
        </p:nvSpPr>
        <p:spPr>
          <a:xfrm>
            <a:off x="3520440" y="3035808"/>
            <a:ext cx="256032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TRIGGER STATUS  (PASS / FAIL)</a:t>
            </a:r>
            <a:endParaRPr lang="en-US" sz="1000" dirty="0"/>
          </a:p>
        </p:txBody>
      </p:sp>
      <p:sp>
        <p:nvSpPr>
          <p:cNvPr id="34" name="Shape 32"/>
          <p:cNvSpPr/>
          <p:nvPr/>
        </p:nvSpPr>
        <p:spPr>
          <a:xfrm>
            <a:off x="3520440" y="3337560"/>
            <a:ext cx="2560320" cy="274320"/>
          </a:xfrm>
          <a:prstGeom prst="roundRect">
            <a:avLst>
              <a:gd name="adj" fmla="val 16667"/>
            </a:avLst>
          </a:prstGeom>
          <a:solidFill>
            <a:srgbClr val="E6F0FB"/>
          </a:solidFill>
          <a:ln w="12700">
            <a:solidFill>
              <a:srgbClr val="E6F0FB"/>
            </a:solidFill>
            <a:prstDash val="solid"/>
          </a:ln>
        </p:spPr>
      </p:sp>
      <p:sp>
        <p:nvSpPr>
          <p:cNvPr id="35" name="Text 33"/>
          <p:cNvSpPr txBox="1"/>
          <p:nvPr/>
        </p:nvSpPr>
        <p:spPr>
          <a:xfrm>
            <a:off x="3611880" y="3337560"/>
            <a:ext cx="1645920" cy="27432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Senior OC Ratio</a:t>
            </a:r>
            <a:endParaRPr lang="en-US" sz="1050" dirty="0"/>
          </a:p>
        </p:txBody>
      </p:sp>
      <p:sp>
        <p:nvSpPr>
          <p:cNvPr id="36" name="Text 34"/>
          <p:cNvSpPr txBox="1"/>
          <p:nvPr/>
        </p:nvSpPr>
        <p:spPr>
          <a:xfrm>
            <a:off x="5120640" y="3337560"/>
            <a:ext cx="868680" cy="274320"/>
          </a:xfrm>
          <a:prstGeom prst="rect">
            <a:avLst/>
          </a:prstGeom>
          <a:noFill/>
          <a:ln/>
        </p:spPr>
        <p:txBody>
          <a:bodyPr wrap="square" lIns="0" tIns="0" rIns="0" bIns="0" rtlCol="0" anchor="ctr"/>
          <a:lstStyle/>
          <a:p>
            <a:pPr algn="r" indent="0" marL="0">
              <a:buNone/>
            </a:pPr>
            <a:r>
              <a:rPr lang="en-US" sz="1050" b="1" dirty="0">
                <a:solidFill>
                  <a:srgbClr val="0B1F3A"/>
                </a:solidFill>
                <a:latin typeface="Calibri" pitchFamily="34" charset="0"/>
                <a:ea typeface="Calibri" pitchFamily="34" charset="-122"/>
                <a:cs typeface="Calibri" pitchFamily="34" charset="-120"/>
              </a:rPr>
              <a:t>≥ 1.20</a:t>
            </a:r>
            <a:endParaRPr lang="en-US" sz="1050" dirty="0"/>
          </a:p>
        </p:txBody>
      </p:sp>
      <p:sp>
        <p:nvSpPr>
          <p:cNvPr id="37" name="Shape 35"/>
          <p:cNvSpPr/>
          <p:nvPr/>
        </p:nvSpPr>
        <p:spPr>
          <a:xfrm>
            <a:off x="3520440" y="3666744"/>
            <a:ext cx="2560320" cy="274320"/>
          </a:xfrm>
          <a:prstGeom prst="roundRect">
            <a:avLst>
              <a:gd name="adj" fmla="val 16667"/>
            </a:avLst>
          </a:prstGeom>
          <a:solidFill>
            <a:srgbClr val="E6F0FB"/>
          </a:solidFill>
          <a:ln w="12700">
            <a:solidFill>
              <a:srgbClr val="E6F0FB"/>
            </a:solidFill>
            <a:prstDash val="solid"/>
          </a:ln>
        </p:spPr>
      </p:sp>
      <p:sp>
        <p:nvSpPr>
          <p:cNvPr id="38" name="Text 36"/>
          <p:cNvSpPr txBox="1"/>
          <p:nvPr/>
        </p:nvSpPr>
        <p:spPr>
          <a:xfrm>
            <a:off x="3611880" y="3666744"/>
            <a:ext cx="1645920" cy="27432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Mezzanine OC Ratio</a:t>
            </a:r>
            <a:endParaRPr lang="en-US" sz="1050" dirty="0"/>
          </a:p>
        </p:txBody>
      </p:sp>
      <p:sp>
        <p:nvSpPr>
          <p:cNvPr id="39" name="Text 37"/>
          <p:cNvSpPr txBox="1"/>
          <p:nvPr/>
        </p:nvSpPr>
        <p:spPr>
          <a:xfrm>
            <a:off x="5120640" y="3666744"/>
            <a:ext cx="868680" cy="274320"/>
          </a:xfrm>
          <a:prstGeom prst="rect">
            <a:avLst/>
          </a:prstGeom>
          <a:noFill/>
          <a:ln/>
        </p:spPr>
        <p:txBody>
          <a:bodyPr wrap="square" lIns="0" tIns="0" rIns="0" bIns="0" rtlCol="0" anchor="ctr"/>
          <a:lstStyle/>
          <a:p>
            <a:pPr algn="r" indent="0" marL="0">
              <a:buNone/>
            </a:pPr>
            <a:r>
              <a:rPr lang="en-US" sz="1050" b="1" dirty="0">
                <a:solidFill>
                  <a:srgbClr val="0B1F3A"/>
                </a:solidFill>
                <a:latin typeface="Calibri" pitchFamily="34" charset="0"/>
                <a:ea typeface="Calibri" pitchFamily="34" charset="-122"/>
                <a:cs typeface="Calibri" pitchFamily="34" charset="-120"/>
              </a:rPr>
              <a:t>≥ 1.10</a:t>
            </a:r>
            <a:endParaRPr lang="en-US" sz="1050" dirty="0"/>
          </a:p>
        </p:txBody>
      </p:sp>
      <p:sp>
        <p:nvSpPr>
          <p:cNvPr id="40" name="Shape 38"/>
          <p:cNvSpPr/>
          <p:nvPr/>
        </p:nvSpPr>
        <p:spPr>
          <a:xfrm>
            <a:off x="3520440" y="3995928"/>
            <a:ext cx="2560320" cy="274320"/>
          </a:xfrm>
          <a:prstGeom prst="roundRect">
            <a:avLst>
              <a:gd name="adj" fmla="val 16667"/>
            </a:avLst>
          </a:prstGeom>
          <a:solidFill>
            <a:srgbClr val="E6F0FB"/>
          </a:solidFill>
          <a:ln w="12700">
            <a:solidFill>
              <a:srgbClr val="E6F0FB"/>
            </a:solidFill>
            <a:prstDash val="solid"/>
          </a:ln>
        </p:spPr>
      </p:sp>
      <p:sp>
        <p:nvSpPr>
          <p:cNvPr id="41" name="Text 39"/>
          <p:cNvSpPr txBox="1"/>
          <p:nvPr/>
        </p:nvSpPr>
        <p:spPr>
          <a:xfrm>
            <a:off x="3611880" y="3995928"/>
            <a:ext cx="1645920" cy="27432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30+ DPD Rate</a:t>
            </a:r>
            <a:endParaRPr lang="en-US" sz="1050" dirty="0"/>
          </a:p>
        </p:txBody>
      </p:sp>
      <p:sp>
        <p:nvSpPr>
          <p:cNvPr id="42" name="Text 40"/>
          <p:cNvSpPr txBox="1"/>
          <p:nvPr/>
        </p:nvSpPr>
        <p:spPr>
          <a:xfrm>
            <a:off x="5120640" y="3995928"/>
            <a:ext cx="868680" cy="274320"/>
          </a:xfrm>
          <a:prstGeom prst="rect">
            <a:avLst/>
          </a:prstGeom>
          <a:noFill/>
          <a:ln/>
        </p:spPr>
        <p:txBody>
          <a:bodyPr wrap="square" lIns="0" tIns="0" rIns="0" bIns="0" rtlCol="0" anchor="ctr"/>
          <a:lstStyle/>
          <a:p>
            <a:pPr algn="r" indent="0" marL="0">
              <a:buNone/>
            </a:pPr>
            <a:r>
              <a:rPr lang="en-US" sz="1050" b="1" dirty="0">
                <a:solidFill>
                  <a:srgbClr val="0B1F3A"/>
                </a:solidFill>
                <a:latin typeface="Calibri" pitchFamily="34" charset="0"/>
                <a:ea typeface="Calibri" pitchFamily="34" charset="-122"/>
                <a:cs typeface="Calibri" pitchFamily="34" charset="-120"/>
              </a:rPr>
              <a:t>≤ 5%</a:t>
            </a:r>
            <a:endParaRPr lang="en-US" sz="1050" dirty="0"/>
          </a:p>
        </p:txBody>
      </p:sp>
      <p:sp>
        <p:nvSpPr>
          <p:cNvPr id="43" name="Shape 41"/>
          <p:cNvSpPr/>
          <p:nvPr/>
        </p:nvSpPr>
        <p:spPr>
          <a:xfrm>
            <a:off x="3520440" y="4325112"/>
            <a:ext cx="2560320" cy="274320"/>
          </a:xfrm>
          <a:prstGeom prst="roundRect">
            <a:avLst>
              <a:gd name="adj" fmla="val 16667"/>
            </a:avLst>
          </a:prstGeom>
          <a:solidFill>
            <a:srgbClr val="E6F0FB"/>
          </a:solidFill>
          <a:ln w="12700">
            <a:solidFill>
              <a:srgbClr val="E6F0FB"/>
            </a:solidFill>
            <a:prstDash val="solid"/>
          </a:ln>
        </p:spPr>
      </p:sp>
      <p:sp>
        <p:nvSpPr>
          <p:cNvPr id="44" name="Text 42"/>
          <p:cNvSpPr txBox="1"/>
          <p:nvPr/>
        </p:nvSpPr>
        <p:spPr>
          <a:xfrm>
            <a:off x="3611880" y="4325112"/>
            <a:ext cx="1645920" cy="274320"/>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Monthly Net Loss Rate</a:t>
            </a:r>
            <a:endParaRPr lang="en-US" sz="1050" dirty="0"/>
          </a:p>
        </p:txBody>
      </p:sp>
      <p:sp>
        <p:nvSpPr>
          <p:cNvPr id="45" name="Text 43"/>
          <p:cNvSpPr txBox="1"/>
          <p:nvPr/>
        </p:nvSpPr>
        <p:spPr>
          <a:xfrm>
            <a:off x="5120640" y="4325112"/>
            <a:ext cx="868680" cy="274320"/>
          </a:xfrm>
          <a:prstGeom prst="rect">
            <a:avLst/>
          </a:prstGeom>
          <a:noFill/>
          <a:ln/>
        </p:spPr>
        <p:txBody>
          <a:bodyPr wrap="square" lIns="0" tIns="0" rIns="0" bIns="0" rtlCol="0" anchor="ctr"/>
          <a:lstStyle/>
          <a:p>
            <a:pPr algn="r" indent="0" marL="0">
              <a:buNone/>
            </a:pPr>
            <a:r>
              <a:rPr lang="en-US" sz="1050" b="1" dirty="0">
                <a:solidFill>
                  <a:srgbClr val="0B1F3A"/>
                </a:solidFill>
                <a:latin typeface="Calibri" pitchFamily="34" charset="0"/>
                <a:ea typeface="Calibri" pitchFamily="34" charset="-122"/>
                <a:cs typeface="Calibri" pitchFamily="34" charset="-120"/>
              </a:rPr>
              <a:t>≤ 3%</a:t>
            </a:r>
            <a:endParaRPr lang="en-US" sz="1050" dirty="0"/>
          </a:p>
        </p:txBody>
      </p:sp>
      <p:sp>
        <p:nvSpPr>
          <p:cNvPr id="46" name="Shape 44"/>
          <p:cNvSpPr/>
          <p:nvPr/>
        </p:nvSpPr>
        <p:spPr>
          <a:xfrm>
            <a:off x="6400800" y="1188720"/>
            <a:ext cx="2286000" cy="2240280"/>
          </a:xfrm>
          <a:prstGeom prst="roundRect">
            <a:avLst>
              <a:gd name="adj" fmla="val 3265"/>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47" name="Text 45"/>
          <p:cNvSpPr txBox="1"/>
          <p:nvPr/>
        </p:nvSpPr>
        <p:spPr>
          <a:xfrm>
            <a:off x="6537960" y="1298448"/>
            <a:ext cx="201168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INVESTOR REPORTING</a:t>
            </a:r>
            <a:endParaRPr lang="en-US" sz="1000" dirty="0"/>
          </a:p>
        </p:txBody>
      </p:sp>
      <p:sp>
        <p:nvSpPr>
          <p:cNvPr id="48" name="Shape 46"/>
          <p:cNvSpPr/>
          <p:nvPr/>
        </p:nvSpPr>
        <p:spPr>
          <a:xfrm>
            <a:off x="6556248" y="1700784"/>
            <a:ext cx="91440" cy="91440"/>
          </a:xfrm>
          <a:prstGeom prst="ellipse">
            <a:avLst/>
          </a:prstGeom>
          <a:solidFill>
            <a:srgbClr val="1F5FBF"/>
          </a:solidFill>
          <a:ln w="12700">
            <a:solidFill>
              <a:srgbClr val="1F5FBF"/>
            </a:solidFill>
            <a:prstDash val="solid"/>
          </a:ln>
        </p:spPr>
      </p:sp>
      <p:sp>
        <p:nvSpPr>
          <p:cNvPr id="49" name="Text 47"/>
          <p:cNvSpPr txBox="1"/>
          <p:nvPr/>
        </p:nvSpPr>
        <p:spPr>
          <a:xfrm>
            <a:off x="6748272" y="1627632"/>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Pool Summary</a:t>
            </a:r>
            <a:endParaRPr lang="en-US" sz="1100" dirty="0"/>
          </a:p>
        </p:txBody>
      </p:sp>
      <p:sp>
        <p:nvSpPr>
          <p:cNvPr id="50" name="Shape 48"/>
          <p:cNvSpPr/>
          <p:nvPr/>
        </p:nvSpPr>
        <p:spPr>
          <a:xfrm>
            <a:off x="6556248" y="1993392"/>
            <a:ext cx="91440" cy="91440"/>
          </a:xfrm>
          <a:prstGeom prst="ellipse">
            <a:avLst/>
          </a:prstGeom>
          <a:solidFill>
            <a:srgbClr val="1F5FBF"/>
          </a:solidFill>
          <a:ln w="12700">
            <a:solidFill>
              <a:srgbClr val="1F5FBF"/>
            </a:solidFill>
            <a:prstDash val="solid"/>
          </a:ln>
        </p:spPr>
      </p:sp>
      <p:sp>
        <p:nvSpPr>
          <p:cNvPr id="51" name="Text 49"/>
          <p:cNvSpPr txBox="1"/>
          <p:nvPr/>
        </p:nvSpPr>
        <p:spPr>
          <a:xfrm>
            <a:off x="6748272" y="1920240"/>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Delinquency Report</a:t>
            </a:r>
            <a:endParaRPr lang="en-US" sz="1100" dirty="0"/>
          </a:p>
        </p:txBody>
      </p:sp>
      <p:sp>
        <p:nvSpPr>
          <p:cNvPr id="52" name="Shape 50"/>
          <p:cNvSpPr/>
          <p:nvPr/>
        </p:nvSpPr>
        <p:spPr>
          <a:xfrm>
            <a:off x="6556248" y="2286000"/>
            <a:ext cx="91440" cy="91440"/>
          </a:xfrm>
          <a:prstGeom prst="ellipse">
            <a:avLst/>
          </a:prstGeom>
          <a:solidFill>
            <a:srgbClr val="1F5FBF"/>
          </a:solidFill>
          <a:ln w="12700">
            <a:solidFill>
              <a:srgbClr val="1F5FBF"/>
            </a:solidFill>
            <a:prstDash val="solid"/>
          </a:ln>
        </p:spPr>
      </p:sp>
      <p:sp>
        <p:nvSpPr>
          <p:cNvPr id="53" name="Text 51"/>
          <p:cNvSpPr txBox="1"/>
          <p:nvPr/>
        </p:nvSpPr>
        <p:spPr>
          <a:xfrm>
            <a:off x="6748272" y="2212848"/>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Loss &amp; Recovery Report</a:t>
            </a:r>
            <a:endParaRPr lang="en-US" sz="1100" dirty="0"/>
          </a:p>
        </p:txBody>
      </p:sp>
      <p:sp>
        <p:nvSpPr>
          <p:cNvPr id="54" name="Shape 52"/>
          <p:cNvSpPr/>
          <p:nvPr/>
        </p:nvSpPr>
        <p:spPr>
          <a:xfrm>
            <a:off x="6556248" y="2578608"/>
            <a:ext cx="91440" cy="91440"/>
          </a:xfrm>
          <a:prstGeom prst="ellipse">
            <a:avLst/>
          </a:prstGeom>
          <a:solidFill>
            <a:srgbClr val="1F5FBF"/>
          </a:solidFill>
          <a:ln w="12700">
            <a:solidFill>
              <a:srgbClr val="1F5FBF"/>
            </a:solidFill>
            <a:prstDash val="solid"/>
          </a:ln>
        </p:spPr>
      </p:sp>
      <p:sp>
        <p:nvSpPr>
          <p:cNvPr id="55" name="Text 53"/>
          <p:cNvSpPr txBox="1"/>
          <p:nvPr/>
        </p:nvSpPr>
        <p:spPr>
          <a:xfrm>
            <a:off x="6748272" y="2505456"/>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Prepayment Report</a:t>
            </a:r>
            <a:endParaRPr lang="en-US" sz="1100" dirty="0"/>
          </a:p>
        </p:txBody>
      </p:sp>
      <p:sp>
        <p:nvSpPr>
          <p:cNvPr id="56" name="Shape 54"/>
          <p:cNvSpPr/>
          <p:nvPr/>
        </p:nvSpPr>
        <p:spPr>
          <a:xfrm>
            <a:off x="6556248" y="2871216"/>
            <a:ext cx="91440" cy="91440"/>
          </a:xfrm>
          <a:prstGeom prst="ellipse">
            <a:avLst/>
          </a:prstGeom>
          <a:solidFill>
            <a:srgbClr val="1F5FBF"/>
          </a:solidFill>
          <a:ln w="12700">
            <a:solidFill>
              <a:srgbClr val="1F5FBF"/>
            </a:solidFill>
            <a:prstDash val="solid"/>
          </a:ln>
        </p:spPr>
      </p:sp>
      <p:sp>
        <p:nvSpPr>
          <p:cNvPr id="57" name="Text 55"/>
          <p:cNvSpPr txBox="1"/>
          <p:nvPr/>
        </p:nvSpPr>
        <p:spPr>
          <a:xfrm>
            <a:off x="6748272" y="2798064"/>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Waterfall Report</a:t>
            </a:r>
            <a:endParaRPr lang="en-US" sz="1100" dirty="0"/>
          </a:p>
        </p:txBody>
      </p:sp>
      <p:sp>
        <p:nvSpPr>
          <p:cNvPr id="58" name="Shape 56"/>
          <p:cNvSpPr/>
          <p:nvPr/>
        </p:nvSpPr>
        <p:spPr>
          <a:xfrm>
            <a:off x="6556248" y="3163824"/>
            <a:ext cx="91440" cy="91440"/>
          </a:xfrm>
          <a:prstGeom prst="ellipse">
            <a:avLst/>
          </a:prstGeom>
          <a:solidFill>
            <a:srgbClr val="1F5FBF"/>
          </a:solidFill>
          <a:ln w="12700">
            <a:solidFill>
              <a:srgbClr val="1F5FBF"/>
            </a:solidFill>
            <a:prstDash val="solid"/>
          </a:ln>
        </p:spPr>
      </p:sp>
      <p:sp>
        <p:nvSpPr>
          <p:cNvPr id="59" name="Text 57"/>
          <p:cNvSpPr txBox="1"/>
          <p:nvPr/>
        </p:nvSpPr>
        <p:spPr>
          <a:xfrm>
            <a:off x="6748272" y="3090672"/>
            <a:ext cx="1828800" cy="237744"/>
          </a:xfrm>
          <a:prstGeom prst="rect">
            <a:avLst/>
          </a:prstGeom>
          <a:noFill/>
          <a:ln/>
        </p:spPr>
        <p:txBody>
          <a:bodyPr wrap="square" lIns="0" tIns="0" rIns="0" bIns="0" rtlCol="0" anchor="ctr"/>
          <a:lstStyle/>
          <a:p>
            <a:pPr indent="0" marL="0">
              <a:buNone/>
            </a:pPr>
            <a:r>
              <a:rPr lang="en-US" sz="1100" dirty="0">
                <a:solidFill>
                  <a:srgbClr val="0B1F3A"/>
                </a:solidFill>
                <a:latin typeface="Calibri" pitchFamily="34" charset="0"/>
                <a:ea typeface="Calibri" pitchFamily="34" charset="-122"/>
                <a:cs typeface="Calibri" pitchFamily="34" charset="-120"/>
              </a:rPr>
              <a:t>Trigger Status</a:t>
            </a:r>
            <a:endParaRPr lang="en-US" sz="1100" dirty="0"/>
          </a:p>
        </p:txBody>
      </p:sp>
      <p:sp>
        <p:nvSpPr>
          <p:cNvPr id="60" name="Shape 58"/>
          <p:cNvSpPr/>
          <p:nvPr/>
        </p:nvSpPr>
        <p:spPr>
          <a:xfrm>
            <a:off x="6400800" y="3566160"/>
            <a:ext cx="2286000" cy="1097280"/>
          </a:xfrm>
          <a:prstGeom prst="roundRect">
            <a:avLst>
              <a:gd name="adj" fmla="val 6667"/>
            </a:avLst>
          </a:prstGeom>
          <a:solidFill>
            <a:srgbClr val="0B1F3A"/>
          </a:solidFill>
          <a:ln w="9525">
            <a:solidFill>
              <a:srgbClr val="0B1F3A"/>
            </a:solidFill>
            <a:prstDash val="solid"/>
          </a:ln>
          <a:effectLst>
            <a:outerShdw sx="100000" sy="100000" kx="0" ky="0" algn="bl" rotWithShape="0" blurRad="101600" dist="25400" dir="5400000">
              <a:srgbClr val="0B1F3A">
                <a:alpha val="10000"/>
              </a:srgbClr>
            </a:outerShdw>
          </a:effectLst>
        </p:spPr>
      </p:sp>
      <p:sp>
        <p:nvSpPr>
          <p:cNvPr id="61" name="Shape 59"/>
          <p:cNvSpPr/>
          <p:nvPr/>
        </p:nvSpPr>
        <p:spPr>
          <a:xfrm>
            <a:off x="6537960" y="3703320"/>
            <a:ext cx="384048" cy="384048"/>
          </a:xfrm>
          <a:prstGeom prst="ellipse">
            <a:avLst/>
          </a:prstGeom>
          <a:solidFill>
            <a:srgbClr val="F2C811"/>
          </a:solidFill>
          <a:ln w="12700">
            <a:solidFill>
              <a:srgbClr val="F2C811"/>
            </a:solidFill>
            <a:prstDash val="solid"/>
          </a:ln>
        </p:spPr>
      </p:sp>
      <p:pic>
        <p:nvPicPr>
          <p:cNvPr id="62" name="Image 0" descr="preencoded.png">    </p:cNvPr>
          <p:cNvPicPr>
            <a:picLocks noChangeAspect="1"/>
          </p:cNvPicPr>
          <p:nvPr/>
        </p:nvPicPr>
        <p:blipFill>
          <a:blip r:embed="rId1"/>
          <a:stretch>
            <a:fillRect/>
          </a:stretch>
        </p:blipFill>
        <p:spPr>
          <a:xfrm>
            <a:off x="6633972" y="3799332"/>
            <a:ext cx="192024" cy="192024"/>
          </a:xfrm>
          <a:prstGeom prst="rect">
            <a:avLst/>
          </a:prstGeom>
        </p:spPr>
      </p:pic>
      <p:sp>
        <p:nvSpPr>
          <p:cNvPr id="63" name="Text 60"/>
          <p:cNvSpPr txBox="1"/>
          <p:nvPr/>
        </p:nvSpPr>
        <p:spPr>
          <a:xfrm>
            <a:off x="7022592" y="3703320"/>
            <a:ext cx="160020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Rating-agency data tape</a:t>
            </a:r>
            <a:endParaRPr lang="en-US" sz="1150" dirty="0"/>
          </a:p>
        </p:txBody>
      </p:sp>
      <p:sp>
        <p:nvSpPr>
          <p:cNvPr id="64" name="Text 61"/>
          <p:cNvSpPr txBox="1"/>
          <p:nvPr/>
        </p:nvSpPr>
        <p:spPr>
          <a:xfrm>
            <a:off x="6537960" y="4187952"/>
            <a:ext cx="2057400" cy="411480"/>
          </a:xfrm>
          <a:prstGeom prst="rect">
            <a:avLst/>
          </a:prstGeom>
          <a:noFill/>
          <a:ln/>
        </p:spPr>
        <p:txBody>
          <a:bodyPr wrap="square" lIns="0" tIns="0" rIns="0" bIns="0" rtlCol="0" anchor="t"/>
          <a:lstStyle/>
          <a:p>
            <a:pPr indent="0" marL="0">
              <a:buNone/>
            </a:pPr>
            <a:r>
              <a:rPr lang="en-US" sz="1000" dirty="0">
                <a:solidFill>
                  <a:srgbClr val="C9D6E8"/>
                </a:solidFill>
                <a:latin typeface="Calibri" pitchFamily="34" charset="0"/>
                <a:ea typeface="Calibri" pitchFamily="34" charset="-122"/>
                <a:cs typeface="Calibri" pitchFamily="34" charset="-120"/>
              </a:rPr>
              <a:t>Loan-level · 500 loans × 32 fields</a:t>
            </a:r>
            <a:endParaRPr lang="en-US" sz="1000" dirty="0"/>
          </a:p>
          <a:p>
            <a:pPr indent="0" marL="0">
              <a:buNone/>
            </a:pPr>
            <a:r>
              <a:rPr lang="en-US" sz="1000" dirty="0">
                <a:solidFill>
                  <a:srgbClr val="C9D6E8"/>
                </a:solidFill>
                <a:latin typeface="Calibri" pitchFamily="34" charset="0"/>
                <a:ea typeface="Calibri" pitchFamily="34" charset="-122"/>
                <a:cs typeface="Calibri" pitchFamily="34" charset="-120"/>
              </a:rPr>
              <a:t>Exported to CSV</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08  ·  GOVERNANCE</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Validation, Performance &amp; Governance</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9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Excel Validation Workbook (ECL Crosscheck, Waterfall Validation, DAX Performance); DAX Measure Dictionary; Project 1 Final Report.</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34440"/>
            <a:ext cx="3657600" cy="777240"/>
          </a:xfrm>
          <a:prstGeom prst="roundRect">
            <a:avLst>
              <a:gd name="adj" fmla="val 9412"/>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8" name="Shape 6"/>
          <p:cNvSpPr/>
          <p:nvPr/>
        </p:nvSpPr>
        <p:spPr>
          <a:xfrm>
            <a:off x="594360" y="1417320"/>
            <a:ext cx="411480" cy="411480"/>
          </a:xfrm>
          <a:prstGeom prst="ellipse">
            <a:avLst/>
          </a:prstGeom>
          <a:solidFill>
            <a:srgbClr val="2E9E6B"/>
          </a:solidFill>
          <a:ln w="12700">
            <a:solidFill>
              <a:srgbClr val="2E9E6B"/>
            </a:solidFill>
            <a:prstDash val="solid"/>
          </a:ln>
        </p:spPr>
      </p:sp>
      <p:pic>
        <p:nvPicPr>
          <p:cNvPr id="9" name="Image 0" descr="preencoded.png">    </p:cNvPr>
          <p:cNvPicPr>
            <a:picLocks noChangeAspect="1"/>
          </p:cNvPicPr>
          <p:nvPr/>
        </p:nvPicPr>
        <p:blipFill>
          <a:blip r:embed="rId1"/>
          <a:stretch>
            <a:fillRect/>
          </a:stretch>
        </p:blipFill>
        <p:spPr>
          <a:xfrm>
            <a:off x="697230" y="1520190"/>
            <a:ext cx="205740" cy="205740"/>
          </a:xfrm>
          <a:prstGeom prst="rect">
            <a:avLst/>
          </a:prstGeom>
        </p:spPr>
      </p:pic>
      <p:sp>
        <p:nvSpPr>
          <p:cNvPr id="10" name="Text 7"/>
          <p:cNvSpPr txBox="1"/>
          <p:nvPr/>
        </p:nvSpPr>
        <p:spPr>
          <a:xfrm>
            <a:off x="1143000" y="1325880"/>
            <a:ext cx="2926080" cy="237744"/>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Excel ECL validation</a:t>
            </a:r>
            <a:endParaRPr lang="en-US" sz="1200" dirty="0"/>
          </a:p>
        </p:txBody>
      </p:sp>
      <p:sp>
        <p:nvSpPr>
          <p:cNvPr id="11" name="Text 8"/>
          <p:cNvSpPr txBox="1"/>
          <p:nvPr/>
        </p:nvSpPr>
        <p:spPr>
          <a:xfrm>
            <a:off x="1143000" y="1572768"/>
            <a:ext cx="2880360" cy="402336"/>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DAX ₹5,528,029 · Excel ₹5,528,091</a:t>
            </a:r>
            <a:endParaRPr lang="en-US" sz="950" dirty="0"/>
          </a:p>
          <a:p>
            <a:pPr indent="0" marL="0">
              <a:buNone/>
            </a:pPr>
            <a:r>
              <a:rPr lang="en-US" sz="950" dirty="0">
                <a:solidFill>
                  <a:srgbClr val="4A5A70"/>
                </a:solidFill>
                <a:latin typeface="Calibri" pitchFamily="34" charset="0"/>
                <a:ea typeface="Calibri" pitchFamily="34" charset="-122"/>
                <a:cs typeface="Calibri" pitchFamily="34" charset="-120"/>
              </a:rPr>
              <a:t>Variance −₹62 (−0.0011%)</a:t>
            </a:r>
            <a:endParaRPr lang="en-US" sz="950" dirty="0"/>
          </a:p>
        </p:txBody>
      </p:sp>
      <p:sp>
        <p:nvSpPr>
          <p:cNvPr id="12" name="Shape 9"/>
          <p:cNvSpPr/>
          <p:nvPr/>
        </p:nvSpPr>
        <p:spPr>
          <a:xfrm>
            <a:off x="457200" y="2125980"/>
            <a:ext cx="3657600" cy="777240"/>
          </a:xfrm>
          <a:prstGeom prst="roundRect">
            <a:avLst>
              <a:gd name="adj" fmla="val 9412"/>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3" name="Shape 10"/>
          <p:cNvSpPr/>
          <p:nvPr/>
        </p:nvSpPr>
        <p:spPr>
          <a:xfrm>
            <a:off x="594360" y="2308860"/>
            <a:ext cx="411480" cy="41148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97230" y="2411730"/>
            <a:ext cx="205740" cy="205740"/>
          </a:xfrm>
          <a:prstGeom prst="rect">
            <a:avLst/>
          </a:prstGeom>
        </p:spPr>
      </p:pic>
      <p:sp>
        <p:nvSpPr>
          <p:cNvPr id="15" name="Text 11"/>
          <p:cNvSpPr txBox="1"/>
          <p:nvPr/>
        </p:nvSpPr>
        <p:spPr>
          <a:xfrm>
            <a:off x="1143000" y="2217420"/>
            <a:ext cx="2926080" cy="237744"/>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Excel waterfall validation</a:t>
            </a:r>
            <a:endParaRPr lang="en-US" sz="1200" dirty="0"/>
          </a:p>
        </p:txBody>
      </p:sp>
      <p:sp>
        <p:nvSpPr>
          <p:cNvPr id="16" name="Text 12"/>
          <p:cNvSpPr txBox="1"/>
          <p:nvPr/>
        </p:nvSpPr>
        <p:spPr>
          <a:xfrm>
            <a:off x="1143000" y="2464308"/>
            <a:ext cx="2880360" cy="402336"/>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Senior / Mezzanine / Equity match manual Excel</a:t>
            </a:r>
            <a:endParaRPr lang="en-US" sz="950" dirty="0"/>
          </a:p>
          <a:p>
            <a:pPr indent="0" marL="0">
              <a:buNone/>
            </a:pPr>
            <a:r>
              <a:rPr lang="en-US" sz="950" dirty="0">
                <a:solidFill>
                  <a:srgbClr val="4A5A70"/>
                </a:solidFill>
                <a:latin typeface="Calibri" pitchFamily="34" charset="0"/>
                <a:ea typeface="Calibri" pitchFamily="34" charset="-122"/>
                <a:cs typeface="Calibri" pitchFamily="34" charset="-120"/>
              </a:rPr>
              <a:t>Variance 0</a:t>
            </a:r>
            <a:endParaRPr lang="en-US" sz="950" dirty="0"/>
          </a:p>
        </p:txBody>
      </p:sp>
      <p:sp>
        <p:nvSpPr>
          <p:cNvPr id="17" name="Shape 13"/>
          <p:cNvSpPr/>
          <p:nvPr/>
        </p:nvSpPr>
        <p:spPr>
          <a:xfrm>
            <a:off x="457200" y="3017520"/>
            <a:ext cx="3657600" cy="777240"/>
          </a:xfrm>
          <a:prstGeom prst="roundRect">
            <a:avLst>
              <a:gd name="adj" fmla="val 9412"/>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8" name="Shape 14"/>
          <p:cNvSpPr/>
          <p:nvPr/>
        </p:nvSpPr>
        <p:spPr>
          <a:xfrm>
            <a:off x="594360" y="3200400"/>
            <a:ext cx="411480" cy="411480"/>
          </a:xfrm>
          <a:prstGeom prst="ellipse">
            <a:avLst/>
          </a:prstGeom>
          <a:solidFill>
            <a:srgbClr val="0B1F3A"/>
          </a:solidFill>
          <a:ln w="12700">
            <a:solidFill>
              <a:srgbClr val="0B1F3A"/>
            </a:solidFill>
            <a:prstDash val="solid"/>
          </a:ln>
        </p:spPr>
      </p:sp>
      <p:pic>
        <p:nvPicPr>
          <p:cNvPr id="19" name="Image 2" descr="preencoded.png">    </p:cNvPr>
          <p:cNvPicPr>
            <a:picLocks noChangeAspect="1"/>
          </p:cNvPicPr>
          <p:nvPr/>
        </p:nvPicPr>
        <p:blipFill>
          <a:blip r:embed="rId3"/>
          <a:stretch>
            <a:fillRect/>
          </a:stretch>
        </p:blipFill>
        <p:spPr>
          <a:xfrm>
            <a:off x="697230" y="3303270"/>
            <a:ext cx="205740" cy="205740"/>
          </a:xfrm>
          <a:prstGeom prst="rect">
            <a:avLst/>
          </a:prstGeom>
        </p:spPr>
      </p:pic>
      <p:sp>
        <p:nvSpPr>
          <p:cNvPr id="20" name="Text 15"/>
          <p:cNvSpPr txBox="1"/>
          <p:nvPr/>
        </p:nvSpPr>
        <p:spPr>
          <a:xfrm>
            <a:off x="1143000" y="3108960"/>
            <a:ext cx="2926080" cy="237744"/>
          </a:xfrm>
          <a:prstGeom prst="rect">
            <a:avLst/>
          </a:prstGeom>
          <a:noFill/>
          <a:ln/>
        </p:spPr>
        <p:txBody>
          <a:bodyPr wrap="square" lIns="0" tIns="0" rIns="0" bIns="0" rtlCol="0" anchor="t"/>
          <a:lstStyle/>
          <a:p>
            <a:pPr indent="0" marL="0">
              <a:buNone/>
            </a:pPr>
            <a:r>
              <a:rPr lang="en-US" sz="1200" b="1" dirty="0">
                <a:solidFill>
                  <a:srgbClr val="0B1F3A"/>
                </a:solidFill>
                <a:latin typeface="Calibri" pitchFamily="34" charset="0"/>
                <a:ea typeface="Calibri" pitchFamily="34" charset="-122"/>
                <a:cs typeface="Calibri" pitchFamily="34" charset="-120"/>
              </a:rPr>
              <a:t>DAX Measure Dictionary</a:t>
            </a:r>
            <a:endParaRPr lang="en-US" sz="1200" dirty="0"/>
          </a:p>
        </p:txBody>
      </p:sp>
      <p:sp>
        <p:nvSpPr>
          <p:cNvPr id="21" name="Text 16"/>
          <p:cNvSpPr txBox="1"/>
          <p:nvPr/>
        </p:nvSpPr>
        <p:spPr>
          <a:xfrm>
            <a:off x="1143000" y="3355848"/>
            <a:ext cx="2880360" cy="402336"/>
          </a:xfrm>
          <a:prstGeom prst="rect">
            <a:avLst/>
          </a:prstGeom>
          <a:noFill/>
          <a:ln/>
        </p:spPr>
        <p:txBody>
          <a:bodyPr wrap="square" lIns="0" tIns="0" rIns="0" bIns="0" rtlCol="0" anchor="t"/>
          <a:lstStyle/>
          <a:p>
            <a:pPr indent="0" marL="0">
              <a:buNone/>
            </a:pPr>
            <a:r>
              <a:rPr lang="en-US" sz="950" dirty="0">
                <a:solidFill>
                  <a:srgbClr val="4A5A70"/>
                </a:solidFill>
                <a:latin typeface="Calibri" pitchFamily="34" charset="0"/>
                <a:ea typeface="Calibri" pitchFamily="34" charset="-122"/>
                <a:cs typeface="Calibri" pitchFamily="34" charset="-120"/>
              </a:rPr>
              <a:t>110+ measures documented across the model</a:t>
            </a:r>
            <a:endParaRPr lang="en-US" sz="950" dirty="0"/>
          </a:p>
        </p:txBody>
      </p:sp>
      <p:sp>
        <p:nvSpPr>
          <p:cNvPr id="22" name="Shape 17"/>
          <p:cNvSpPr/>
          <p:nvPr/>
        </p:nvSpPr>
        <p:spPr>
          <a:xfrm>
            <a:off x="4297680" y="1234440"/>
            <a:ext cx="4389120" cy="2560320"/>
          </a:xfrm>
          <a:prstGeom prst="roundRect">
            <a:avLst>
              <a:gd name="adj" fmla="val 2857"/>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3" name="Text 18"/>
          <p:cNvSpPr txBox="1"/>
          <p:nvPr/>
        </p:nvSpPr>
        <p:spPr>
          <a:xfrm>
            <a:off x="4480560" y="1325880"/>
            <a:ext cx="402336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DAX Studio query time (ms)  ·  target &lt; 100 ms</a:t>
            </a:r>
            <a:endParaRPr lang="en-US" sz="1150" dirty="0"/>
          </a:p>
        </p:txBody>
      </p:sp>
      <p:graphicFrame>
        <p:nvGraphicFramePr>
          <p:cNvPr id="24" name="Chart 0" descr=""/>
          <p:cNvGraphicFramePr/>
          <p:nvPr/>
        </p:nvGraphicFramePr>
        <p:xfrm>
          <a:off x="4343400" y="1554480"/>
          <a:ext cx="4297680" cy="2212848"/>
        </p:xfrm>
        <a:graphic xmlns:a="http://schemas.openxmlformats.org/drawingml/2006/main">
          <a:graphicData uri="http://schemas.openxmlformats.org/drawingml/2006/chart">
            <c:chart xmlns:c="http://schemas.openxmlformats.org/drawingml/2006/chart" r:id="rId4"/>
          </a:graphicData>
        </a:graphic>
      </p:graphicFrame>
      <p:sp>
        <p:nvSpPr>
          <p:cNvPr id="25" name="Shape 19"/>
          <p:cNvSpPr/>
          <p:nvPr/>
        </p:nvSpPr>
        <p:spPr>
          <a:xfrm>
            <a:off x="457200" y="3931920"/>
            <a:ext cx="8229600" cy="777240"/>
          </a:xfrm>
          <a:prstGeom prst="roundRect">
            <a:avLst>
              <a:gd name="adj" fmla="val 9412"/>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6" name="Shape 20"/>
          <p:cNvSpPr/>
          <p:nvPr/>
        </p:nvSpPr>
        <p:spPr>
          <a:xfrm>
            <a:off x="566928" y="4023360"/>
            <a:ext cx="347472" cy="347472"/>
          </a:xfrm>
          <a:prstGeom prst="ellipse">
            <a:avLst/>
          </a:prstGeom>
          <a:solidFill>
            <a:srgbClr val="0B1F3A"/>
          </a:solidFill>
          <a:ln w="12700">
            <a:solidFill>
              <a:srgbClr val="0B1F3A"/>
            </a:solidFill>
            <a:prstDash val="solid"/>
          </a:ln>
        </p:spPr>
      </p:sp>
      <p:pic>
        <p:nvPicPr>
          <p:cNvPr id="27" name="Image 3" descr="preencoded.png">    </p:cNvPr>
          <p:cNvPicPr>
            <a:picLocks noChangeAspect="1"/>
          </p:cNvPicPr>
          <p:nvPr/>
        </p:nvPicPr>
        <p:blipFill>
          <a:blip r:embed="rId5"/>
          <a:stretch>
            <a:fillRect/>
          </a:stretch>
        </p:blipFill>
        <p:spPr>
          <a:xfrm>
            <a:off x="653796" y="4110228"/>
            <a:ext cx="173736" cy="173736"/>
          </a:xfrm>
          <a:prstGeom prst="rect">
            <a:avLst/>
          </a:prstGeom>
        </p:spPr>
      </p:pic>
      <p:sp>
        <p:nvSpPr>
          <p:cNvPr id="28" name="Text 21"/>
          <p:cNvSpPr txBox="1"/>
          <p:nvPr/>
        </p:nvSpPr>
        <p:spPr>
          <a:xfrm>
            <a:off x="1005840" y="3986784"/>
            <a:ext cx="2743200" cy="219456"/>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RLS · 5 roles created</a:t>
            </a:r>
            <a:endParaRPr lang="en-US" sz="1150" dirty="0"/>
          </a:p>
        </p:txBody>
      </p:sp>
      <p:sp>
        <p:nvSpPr>
          <p:cNvPr id="29" name="Shape 22"/>
          <p:cNvSpPr/>
          <p:nvPr/>
        </p:nvSpPr>
        <p:spPr>
          <a:xfrm>
            <a:off x="1005840" y="4297680"/>
            <a:ext cx="658368" cy="256032"/>
          </a:xfrm>
          <a:prstGeom prst="roundRect">
            <a:avLst>
              <a:gd name="adj" fmla="val 17857"/>
            </a:avLst>
          </a:prstGeom>
          <a:solidFill>
            <a:srgbClr val="E6F0FB"/>
          </a:solidFill>
          <a:ln w="6350">
            <a:solidFill>
              <a:srgbClr val="BBD3F0"/>
            </a:solidFill>
            <a:prstDash val="solid"/>
          </a:ln>
        </p:spPr>
      </p:sp>
      <p:sp>
        <p:nvSpPr>
          <p:cNvPr id="30" name="Text 23"/>
          <p:cNvSpPr txBox="1"/>
          <p:nvPr/>
        </p:nvSpPr>
        <p:spPr>
          <a:xfrm>
            <a:off x="1005840" y="4297680"/>
            <a:ext cx="658368"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Auditor</a:t>
            </a:r>
            <a:endParaRPr lang="en-US" sz="950" dirty="0"/>
          </a:p>
        </p:txBody>
      </p:sp>
      <p:sp>
        <p:nvSpPr>
          <p:cNvPr id="31" name="Shape 24"/>
          <p:cNvSpPr/>
          <p:nvPr/>
        </p:nvSpPr>
        <p:spPr>
          <a:xfrm>
            <a:off x="1737360" y="4297680"/>
            <a:ext cx="1097280" cy="256032"/>
          </a:xfrm>
          <a:prstGeom prst="roundRect">
            <a:avLst>
              <a:gd name="adj" fmla="val 17857"/>
            </a:avLst>
          </a:prstGeom>
          <a:solidFill>
            <a:srgbClr val="E6F0FB"/>
          </a:solidFill>
          <a:ln w="6350">
            <a:solidFill>
              <a:srgbClr val="BBD3F0"/>
            </a:solidFill>
            <a:prstDash val="solid"/>
          </a:ln>
        </p:spPr>
      </p:sp>
      <p:sp>
        <p:nvSpPr>
          <p:cNvPr id="32" name="Text 25"/>
          <p:cNvSpPr txBox="1"/>
          <p:nvPr/>
        </p:nvSpPr>
        <p:spPr>
          <a:xfrm>
            <a:off x="1737360" y="4297680"/>
            <a:ext cx="1097280"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Portfolio Manager</a:t>
            </a:r>
            <a:endParaRPr lang="en-US" sz="950" dirty="0"/>
          </a:p>
        </p:txBody>
      </p:sp>
      <p:sp>
        <p:nvSpPr>
          <p:cNvPr id="33" name="Shape 26"/>
          <p:cNvSpPr/>
          <p:nvPr/>
        </p:nvSpPr>
        <p:spPr>
          <a:xfrm>
            <a:off x="2907792" y="4297680"/>
            <a:ext cx="896112" cy="256032"/>
          </a:xfrm>
          <a:prstGeom prst="roundRect">
            <a:avLst>
              <a:gd name="adj" fmla="val 17857"/>
            </a:avLst>
          </a:prstGeom>
          <a:solidFill>
            <a:srgbClr val="E6F0FB"/>
          </a:solidFill>
          <a:ln w="6350">
            <a:solidFill>
              <a:srgbClr val="BBD3F0"/>
            </a:solidFill>
            <a:prstDash val="solid"/>
          </a:ln>
        </p:spPr>
      </p:sp>
      <p:sp>
        <p:nvSpPr>
          <p:cNvPr id="34" name="Text 27"/>
          <p:cNvSpPr txBox="1"/>
          <p:nvPr/>
        </p:nvSpPr>
        <p:spPr>
          <a:xfrm>
            <a:off x="2907792" y="4297680"/>
            <a:ext cx="896112"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Risk Analyst</a:t>
            </a:r>
            <a:endParaRPr lang="en-US" sz="950" dirty="0"/>
          </a:p>
        </p:txBody>
      </p:sp>
      <p:sp>
        <p:nvSpPr>
          <p:cNvPr id="35" name="Shape 28"/>
          <p:cNvSpPr/>
          <p:nvPr/>
        </p:nvSpPr>
        <p:spPr>
          <a:xfrm>
            <a:off x="3877056" y="4297680"/>
            <a:ext cx="1170432" cy="256032"/>
          </a:xfrm>
          <a:prstGeom prst="roundRect">
            <a:avLst>
              <a:gd name="adj" fmla="val 17857"/>
            </a:avLst>
          </a:prstGeom>
          <a:solidFill>
            <a:srgbClr val="E6F0FB"/>
          </a:solidFill>
          <a:ln w="6350">
            <a:solidFill>
              <a:srgbClr val="BBD3F0"/>
            </a:solidFill>
            <a:prstDash val="solid"/>
          </a:ln>
        </p:spPr>
      </p:sp>
      <p:sp>
        <p:nvSpPr>
          <p:cNvPr id="36" name="Text 29"/>
          <p:cNvSpPr txBox="1"/>
          <p:nvPr/>
        </p:nvSpPr>
        <p:spPr>
          <a:xfrm>
            <a:off x="3877056" y="4297680"/>
            <a:ext cx="1170432"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Senior Management</a:t>
            </a:r>
            <a:endParaRPr lang="en-US" sz="950" dirty="0"/>
          </a:p>
        </p:txBody>
      </p:sp>
      <p:sp>
        <p:nvSpPr>
          <p:cNvPr id="37" name="Shape 30"/>
          <p:cNvSpPr/>
          <p:nvPr/>
        </p:nvSpPr>
        <p:spPr>
          <a:xfrm>
            <a:off x="5120640" y="4297680"/>
            <a:ext cx="713232" cy="256032"/>
          </a:xfrm>
          <a:prstGeom prst="roundRect">
            <a:avLst>
              <a:gd name="adj" fmla="val 17857"/>
            </a:avLst>
          </a:prstGeom>
          <a:solidFill>
            <a:srgbClr val="E6F0FB"/>
          </a:solidFill>
          <a:ln w="6350">
            <a:solidFill>
              <a:srgbClr val="BBD3F0"/>
            </a:solidFill>
            <a:prstDash val="solid"/>
          </a:ln>
        </p:spPr>
      </p:sp>
      <p:sp>
        <p:nvSpPr>
          <p:cNvPr id="38" name="Text 31"/>
          <p:cNvSpPr txBox="1"/>
          <p:nvPr/>
        </p:nvSpPr>
        <p:spPr>
          <a:xfrm>
            <a:off x="5120640" y="4297680"/>
            <a:ext cx="713232" cy="256032"/>
          </a:xfrm>
          <a:prstGeom prst="rect">
            <a:avLst/>
          </a:prstGeom>
          <a:noFill/>
          <a:ln/>
        </p:spPr>
        <p:txBody>
          <a:bodyPr wrap="square" lIns="0" tIns="0" rIns="0" bIns="0" rtlCol="0" anchor="ctr"/>
          <a:lstStyle/>
          <a:p>
            <a:pPr algn="ctr" indent="0" marL="0">
              <a:buNone/>
            </a:pPr>
            <a:r>
              <a:rPr lang="en-US" sz="950" dirty="0">
                <a:solidFill>
                  <a:srgbClr val="0B1F3A"/>
                </a:solidFill>
                <a:latin typeface="Calibri" pitchFamily="34" charset="0"/>
                <a:ea typeface="Calibri" pitchFamily="34" charset="-122"/>
                <a:cs typeface="Calibri" pitchFamily="34" charset="-120"/>
              </a:rPr>
              <a:t>Servicer</a:t>
            </a:r>
            <a:endParaRPr lang="en-US" sz="950" dirty="0"/>
          </a:p>
        </p:txBody>
      </p:sp>
      <p:sp>
        <p:nvSpPr>
          <p:cNvPr id="39" name="Shape 32"/>
          <p:cNvSpPr/>
          <p:nvPr/>
        </p:nvSpPr>
        <p:spPr>
          <a:xfrm>
            <a:off x="5989320" y="4023360"/>
            <a:ext cx="2606040" cy="594360"/>
          </a:xfrm>
          <a:prstGeom prst="roundRect">
            <a:avLst>
              <a:gd name="adj" fmla="val 9231"/>
            </a:avLst>
          </a:prstGeom>
          <a:solidFill>
            <a:srgbClr val="FFF4D6"/>
          </a:solidFill>
          <a:ln w="12700">
            <a:solidFill>
              <a:srgbClr val="F2C811"/>
            </a:solidFill>
            <a:prstDash val="solid"/>
          </a:ln>
        </p:spPr>
      </p:sp>
      <p:sp>
        <p:nvSpPr>
          <p:cNvPr id="40" name="Text 33"/>
          <p:cNvSpPr txBox="1"/>
          <p:nvPr/>
        </p:nvSpPr>
        <p:spPr>
          <a:xfrm>
            <a:off x="6080760" y="4023360"/>
            <a:ext cx="2450592" cy="594360"/>
          </a:xfrm>
          <a:prstGeom prst="rect">
            <a:avLst/>
          </a:prstGeom>
          <a:noFill/>
          <a:ln/>
        </p:spPr>
        <p:txBody>
          <a:bodyPr wrap="square" lIns="0" tIns="0" rIns="0" bIns="0" rtlCol="0" anchor="ctr"/>
          <a:lstStyle/>
          <a:p>
            <a:pPr indent="0" marL="0">
              <a:buNone/>
            </a:pPr>
            <a:r>
              <a:rPr lang="en-US" sz="950" b="1" dirty="0">
                <a:solidFill>
                  <a:srgbClr val="5A4300"/>
                </a:solidFill>
                <a:latin typeface="Calibri" pitchFamily="34" charset="0"/>
                <a:ea typeface="Calibri" pitchFamily="34" charset="-122"/>
                <a:cs typeface="Calibri" pitchFamily="34" charset="-120"/>
              </a:rPr>
              <a:t>Validation note: </a:t>
            </a:r>
            <a:pPr indent="0" marL="0">
              <a:buNone/>
            </a:pPr>
            <a:r>
              <a:rPr lang="en-US" sz="950" dirty="0">
                <a:solidFill>
                  <a:srgbClr val="5A4300"/>
                </a:solidFill>
                <a:latin typeface="Calibri" pitchFamily="34" charset="0"/>
                <a:ea typeface="Calibri" pitchFamily="34" charset="-122"/>
                <a:cs typeface="Calibri" pitchFamily="34" charset="-120"/>
              </a:rPr>
              <a:t>RLS roles created; full filter-propagation validation across related tables was not completed.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457200" y="246888"/>
            <a:ext cx="6400800" cy="201168"/>
          </a:xfrm>
          <a:prstGeom prst="rect">
            <a:avLst/>
          </a:prstGeom>
          <a:noFill/>
          <a:ln/>
        </p:spPr>
        <p:txBody>
          <a:bodyPr wrap="square" lIns="0" tIns="0" rIns="0" bIns="0" rtlCol="0" anchor="t"/>
          <a:lstStyle/>
          <a:p>
            <a:pPr indent="0" marL="0">
              <a:buNone/>
            </a:pPr>
            <a:r>
              <a:rPr lang="en-US" sz="1000" b="1" spc="200" kern="0" dirty="0">
                <a:solidFill>
                  <a:srgbClr val="118DFF"/>
                </a:solidFill>
                <a:latin typeface="Calibri" pitchFamily="34" charset="0"/>
                <a:ea typeface="Calibri" pitchFamily="34" charset="-122"/>
                <a:cs typeface="Calibri" pitchFamily="34" charset="-120"/>
              </a:rPr>
              <a:t>09  ·  LESSONS</a:t>
            </a:r>
            <a:endParaRPr lang="en-US" sz="1000" dirty="0"/>
          </a:p>
        </p:txBody>
      </p:sp>
      <p:sp>
        <p:nvSpPr>
          <p:cNvPr id="3" name="Text 1"/>
          <p:cNvSpPr txBox="1"/>
          <p:nvPr/>
        </p:nvSpPr>
        <p:spPr>
          <a:xfrm>
            <a:off x="457200" y="457200"/>
            <a:ext cx="7863840" cy="548640"/>
          </a:xfrm>
          <a:prstGeom prst="rect">
            <a:avLst/>
          </a:prstGeom>
          <a:noFill/>
          <a:ln/>
        </p:spPr>
        <p:txBody>
          <a:bodyPr wrap="square" lIns="0" tIns="0" rIns="0" bIns="0"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Case Studies, Conclusion &amp; Key Takeaways</a:t>
            </a:r>
            <a:endParaRPr lang="en-US" sz="2600" dirty="0"/>
          </a:p>
        </p:txBody>
      </p:sp>
      <p:sp>
        <p:nvSpPr>
          <p:cNvPr id="4" name="Text 2"/>
          <p:cNvSpPr txBox="1"/>
          <p:nvPr/>
        </p:nvSpPr>
        <p:spPr>
          <a:xfrm>
            <a:off x="7955280" y="246888"/>
            <a:ext cx="731520" cy="201168"/>
          </a:xfrm>
          <a:prstGeom prst="rect">
            <a:avLst/>
          </a:prstGeom>
          <a:noFill/>
          <a:ln/>
        </p:spPr>
        <p:txBody>
          <a:bodyPr wrap="square" lIns="0" tIns="0" rIns="0" bIns="0" rtlCol="0" anchor="t"/>
          <a:lstStyle/>
          <a:p>
            <a:pPr algn="r" indent="0" marL="0">
              <a:buNone/>
            </a:pPr>
            <a:r>
              <a:rPr lang="en-US" sz="1000" dirty="0">
                <a:solidFill>
                  <a:srgbClr val="7A8799"/>
                </a:solidFill>
                <a:latin typeface="Calibri" pitchFamily="34" charset="0"/>
                <a:ea typeface="Calibri" pitchFamily="34" charset="-122"/>
                <a:cs typeface="Calibri" pitchFamily="34" charset="-120"/>
              </a:rPr>
              <a:t>10 / 10</a:t>
            </a:r>
            <a:endParaRPr lang="en-US" sz="1000" dirty="0"/>
          </a:p>
        </p:txBody>
      </p:sp>
      <p:sp>
        <p:nvSpPr>
          <p:cNvPr id="5" name="Text 3"/>
          <p:cNvSpPr txBox="1"/>
          <p:nvPr/>
        </p:nvSpPr>
        <p:spPr>
          <a:xfrm>
            <a:off x="457200" y="4828032"/>
            <a:ext cx="6309360" cy="201168"/>
          </a:xfrm>
          <a:prstGeom prst="rect">
            <a:avLst/>
          </a:prstGeom>
          <a:noFill/>
          <a:ln/>
        </p:spPr>
        <p:txBody>
          <a:bodyPr wrap="square" lIns="0" tIns="0" rIns="0" bIns="0" rtlCol="0" anchor="t"/>
          <a:lstStyle/>
          <a:p>
            <a:pPr indent="0" marL="0">
              <a:buNone/>
            </a:pPr>
            <a:r>
              <a:rPr lang="en-US" sz="850" dirty="0">
                <a:solidFill>
                  <a:srgbClr val="7A8799"/>
                </a:solidFill>
                <a:latin typeface="Calibri" pitchFamily="34" charset="0"/>
                <a:ea typeface="Calibri" pitchFamily="34" charset="-122"/>
                <a:cs typeface="Calibri" pitchFamily="34" charset="-120"/>
              </a:rPr>
              <a:t>Source: Project 1 Final Report – 2008 Global Financial Crisis Case Study, IL&amp;FS Case Study, Conclusion, RLS Validation Note.</a:t>
            </a:r>
            <a:endParaRPr lang="en-US" sz="850" dirty="0"/>
          </a:p>
        </p:txBody>
      </p:sp>
      <p:sp>
        <p:nvSpPr>
          <p:cNvPr id="6" name="Text 4"/>
          <p:cNvSpPr txBox="1"/>
          <p:nvPr/>
        </p:nvSpPr>
        <p:spPr>
          <a:xfrm>
            <a:off x="6035040" y="4828032"/>
            <a:ext cx="2651760" cy="201168"/>
          </a:xfrm>
          <a:prstGeom prst="rect">
            <a:avLst/>
          </a:prstGeom>
          <a:noFill/>
          <a:ln/>
        </p:spPr>
        <p:txBody>
          <a:bodyPr wrap="square" lIns="0" tIns="0" rIns="0" bIns="0" rtlCol="0" anchor="t"/>
          <a:lstStyle/>
          <a:p>
            <a:pPr algn="r" indent="0" marL="0">
              <a:buNone/>
            </a:pPr>
            <a:r>
              <a:rPr lang="en-US" sz="850" dirty="0">
                <a:solidFill>
                  <a:srgbClr val="7A8799"/>
                </a:solidFill>
                <a:latin typeface="Calibri" pitchFamily="34" charset="0"/>
                <a:ea typeface="Calibri" pitchFamily="34" charset="-122"/>
                <a:cs typeface="Calibri" pitchFamily="34" charset="-120"/>
              </a:rPr>
              <a:t>Project 1  ·  Power BI Data Analytics Project</a:t>
            </a:r>
            <a:endParaRPr lang="en-US" sz="850" dirty="0"/>
          </a:p>
        </p:txBody>
      </p:sp>
      <p:sp>
        <p:nvSpPr>
          <p:cNvPr id="7" name="Shape 5"/>
          <p:cNvSpPr/>
          <p:nvPr/>
        </p:nvSpPr>
        <p:spPr>
          <a:xfrm>
            <a:off x="457200" y="1234440"/>
            <a:ext cx="2606040" cy="2011680"/>
          </a:xfrm>
          <a:prstGeom prst="roundRect">
            <a:avLst>
              <a:gd name="adj" fmla="val 3636"/>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8" name="Shape 6"/>
          <p:cNvSpPr/>
          <p:nvPr/>
        </p:nvSpPr>
        <p:spPr>
          <a:xfrm>
            <a:off x="594360" y="1371600"/>
            <a:ext cx="365760" cy="365760"/>
          </a:xfrm>
          <a:prstGeom prst="ellipse">
            <a:avLst/>
          </a:prstGeom>
          <a:solidFill>
            <a:srgbClr val="0B1F3A"/>
          </a:solidFill>
          <a:ln w="12700">
            <a:solidFill>
              <a:srgbClr val="0B1F3A"/>
            </a:solidFill>
            <a:prstDash val="solid"/>
          </a:ln>
        </p:spPr>
      </p:sp>
      <p:pic>
        <p:nvPicPr>
          <p:cNvPr id="9" name="Image 0" descr="preencoded.png">    </p:cNvPr>
          <p:cNvPicPr>
            <a:picLocks noChangeAspect="1"/>
          </p:cNvPicPr>
          <p:nvPr/>
        </p:nvPicPr>
        <p:blipFill>
          <a:blip r:embed="rId1"/>
          <a:stretch>
            <a:fillRect/>
          </a:stretch>
        </p:blipFill>
        <p:spPr>
          <a:xfrm>
            <a:off x="685800" y="1463040"/>
            <a:ext cx="182880" cy="182880"/>
          </a:xfrm>
          <a:prstGeom prst="rect">
            <a:avLst/>
          </a:prstGeom>
        </p:spPr>
      </p:pic>
      <p:sp>
        <p:nvSpPr>
          <p:cNvPr id="10" name="Text 7"/>
          <p:cNvSpPr txBox="1"/>
          <p:nvPr/>
        </p:nvSpPr>
        <p:spPr>
          <a:xfrm>
            <a:off x="1051560" y="1371600"/>
            <a:ext cx="1920240" cy="36576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2008 Global Financial Crisis</a:t>
            </a:r>
            <a:endParaRPr lang="en-US" sz="1200" dirty="0"/>
          </a:p>
        </p:txBody>
      </p:sp>
      <p:sp>
        <p:nvSpPr>
          <p:cNvPr id="11" name="Text 8"/>
          <p:cNvSpPr txBox="1"/>
          <p:nvPr/>
        </p:nvSpPr>
        <p:spPr>
          <a:xfrm>
            <a:off x="594360" y="1847088"/>
            <a:ext cx="2359152" cy="77724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Weak lending standards, securitisation structures, credit-risk assessment and excessive leverage led to significant financial-system stress.</a:t>
            </a:r>
            <a:endParaRPr lang="en-US" sz="1000" dirty="0"/>
          </a:p>
        </p:txBody>
      </p:sp>
      <p:sp>
        <p:nvSpPr>
          <p:cNvPr id="12" name="Text 9"/>
          <p:cNvSpPr txBox="1"/>
          <p:nvPr/>
        </p:nvSpPr>
        <p:spPr>
          <a:xfrm>
            <a:off x="594360" y="2606040"/>
            <a:ext cx="2359152" cy="548640"/>
          </a:xfrm>
          <a:prstGeom prst="rect">
            <a:avLst/>
          </a:prstGeom>
          <a:noFill/>
          <a:ln/>
        </p:spPr>
        <p:txBody>
          <a:bodyPr wrap="square" lIns="0" tIns="0" rIns="0" bIns="0" rtlCol="0" anchor="t"/>
          <a:lstStyle/>
          <a:p>
            <a:pPr indent="0" marL="0">
              <a:buNone/>
            </a:pPr>
            <a:r>
              <a:rPr lang="en-US" sz="1000" b="1" dirty="0">
                <a:solidFill>
                  <a:srgbClr val="1F5FBF"/>
                </a:solidFill>
                <a:latin typeface="Calibri" pitchFamily="34" charset="0"/>
                <a:ea typeface="Calibri" pitchFamily="34" charset="-122"/>
                <a:cs typeface="Calibri" pitchFamily="34" charset="-120"/>
              </a:rPr>
              <a:t>Lesson: monitor loan quality, delinquency, losses, recoveries and credit enhancement.</a:t>
            </a:r>
            <a:endParaRPr lang="en-US" sz="1000" dirty="0"/>
          </a:p>
        </p:txBody>
      </p:sp>
      <p:sp>
        <p:nvSpPr>
          <p:cNvPr id="13" name="Shape 10"/>
          <p:cNvSpPr/>
          <p:nvPr/>
        </p:nvSpPr>
        <p:spPr>
          <a:xfrm>
            <a:off x="3200400" y="1234440"/>
            <a:ext cx="2606040" cy="2011680"/>
          </a:xfrm>
          <a:prstGeom prst="roundRect">
            <a:avLst>
              <a:gd name="adj" fmla="val 3636"/>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14" name="Shape 11"/>
          <p:cNvSpPr/>
          <p:nvPr/>
        </p:nvSpPr>
        <p:spPr>
          <a:xfrm>
            <a:off x="3337560" y="1371600"/>
            <a:ext cx="365760" cy="365760"/>
          </a:xfrm>
          <a:prstGeom prst="ellipse">
            <a:avLst/>
          </a:prstGeom>
          <a:solidFill>
            <a:srgbClr val="0B1F3A"/>
          </a:solidFill>
          <a:ln w="12700">
            <a:solidFill>
              <a:srgbClr val="0B1F3A"/>
            </a:solidFill>
            <a:prstDash val="solid"/>
          </a:ln>
        </p:spPr>
      </p:sp>
      <p:pic>
        <p:nvPicPr>
          <p:cNvPr id="15" name="Image 1" descr="preencoded.png">    </p:cNvPr>
          <p:cNvPicPr>
            <a:picLocks noChangeAspect="1"/>
          </p:cNvPicPr>
          <p:nvPr/>
        </p:nvPicPr>
        <p:blipFill>
          <a:blip r:embed="rId2"/>
          <a:stretch>
            <a:fillRect/>
          </a:stretch>
        </p:blipFill>
        <p:spPr>
          <a:xfrm>
            <a:off x="3429000" y="1463040"/>
            <a:ext cx="182880" cy="182880"/>
          </a:xfrm>
          <a:prstGeom prst="rect">
            <a:avLst/>
          </a:prstGeom>
        </p:spPr>
      </p:pic>
      <p:sp>
        <p:nvSpPr>
          <p:cNvPr id="16" name="Text 12"/>
          <p:cNvSpPr txBox="1"/>
          <p:nvPr/>
        </p:nvSpPr>
        <p:spPr>
          <a:xfrm>
            <a:off x="3794760" y="1371600"/>
            <a:ext cx="1920240" cy="36576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IL&amp;FS (India)</a:t>
            </a:r>
            <a:endParaRPr lang="en-US" sz="1200" dirty="0"/>
          </a:p>
        </p:txBody>
      </p:sp>
      <p:sp>
        <p:nvSpPr>
          <p:cNvPr id="17" name="Text 13"/>
          <p:cNvSpPr txBox="1"/>
          <p:nvPr/>
        </p:nvSpPr>
        <p:spPr>
          <a:xfrm>
            <a:off x="3337560" y="1847088"/>
            <a:ext cx="2359152" cy="777240"/>
          </a:xfrm>
          <a:prstGeom prst="rect">
            <a:avLst/>
          </a:prstGeom>
          <a:noFill/>
          <a:ln/>
        </p:spPr>
        <p:txBody>
          <a:bodyPr wrap="square" lIns="0" tIns="0" rIns="0" bIns="0" rtlCol="0" anchor="t"/>
          <a:lstStyle/>
          <a:p>
            <a:pPr indent="0" marL="0">
              <a:buNone/>
            </a:pPr>
            <a:r>
              <a:rPr lang="en-US" sz="1000" dirty="0">
                <a:solidFill>
                  <a:srgbClr val="4A5A70"/>
                </a:solidFill>
                <a:latin typeface="Calibri" pitchFamily="34" charset="0"/>
                <a:ea typeface="Calibri" pitchFamily="34" charset="-122"/>
                <a:cs typeface="Calibri" pitchFamily="34" charset="-120"/>
              </a:rPr>
              <a:t>Liquidity risk, asset-liability mismatches and interconnected exposures spread stress across a financial network.</a:t>
            </a:r>
            <a:endParaRPr lang="en-US" sz="1000" dirty="0"/>
          </a:p>
        </p:txBody>
      </p:sp>
      <p:sp>
        <p:nvSpPr>
          <p:cNvPr id="18" name="Text 14"/>
          <p:cNvSpPr txBox="1"/>
          <p:nvPr/>
        </p:nvSpPr>
        <p:spPr>
          <a:xfrm>
            <a:off x="3337560" y="2606040"/>
            <a:ext cx="2359152" cy="548640"/>
          </a:xfrm>
          <a:prstGeom prst="rect">
            <a:avLst/>
          </a:prstGeom>
          <a:noFill/>
          <a:ln/>
        </p:spPr>
        <p:txBody>
          <a:bodyPr wrap="square" lIns="0" tIns="0" rIns="0" bIns="0" rtlCol="0" anchor="t"/>
          <a:lstStyle/>
          <a:p>
            <a:pPr indent="0" marL="0">
              <a:buNone/>
            </a:pPr>
            <a:r>
              <a:rPr lang="en-US" sz="1000" b="1" dirty="0">
                <a:solidFill>
                  <a:srgbClr val="1F5FBF"/>
                </a:solidFill>
                <a:latin typeface="Calibri" pitchFamily="34" charset="0"/>
                <a:ea typeface="Calibri" pitchFamily="34" charset="-122"/>
                <a:cs typeface="Calibri" pitchFamily="34" charset="-120"/>
              </a:rPr>
              <a:t>Lesson: monitor cash flows, credit quality, concentration and liquidity continuously.</a:t>
            </a:r>
            <a:endParaRPr lang="en-US" sz="1000" dirty="0"/>
          </a:p>
        </p:txBody>
      </p:sp>
      <p:sp>
        <p:nvSpPr>
          <p:cNvPr id="19" name="Shape 15"/>
          <p:cNvSpPr/>
          <p:nvPr/>
        </p:nvSpPr>
        <p:spPr>
          <a:xfrm>
            <a:off x="5943600" y="1234440"/>
            <a:ext cx="2743200" cy="2011680"/>
          </a:xfrm>
          <a:prstGeom prst="roundRect">
            <a:avLst>
              <a:gd name="adj" fmla="val 3636"/>
            </a:avLst>
          </a:prstGeom>
          <a:solidFill>
            <a:srgbClr val="FFFFFF"/>
          </a:solidFill>
          <a:ln w="9525">
            <a:solidFill>
              <a:srgbClr val="E1E8F2"/>
            </a:solidFill>
            <a:prstDash val="solid"/>
          </a:ln>
          <a:effectLst>
            <a:outerShdw sx="100000" sy="100000" kx="0" ky="0" algn="bl" rotWithShape="0" blurRad="101600" dist="25400" dir="5400000">
              <a:srgbClr val="0B1F3A">
                <a:alpha val="10000"/>
              </a:srgbClr>
            </a:outerShdw>
          </a:effectLst>
        </p:spPr>
      </p:sp>
      <p:sp>
        <p:nvSpPr>
          <p:cNvPr id="20" name="Text 16"/>
          <p:cNvSpPr txBox="1"/>
          <p:nvPr/>
        </p:nvSpPr>
        <p:spPr>
          <a:xfrm>
            <a:off x="6080760" y="1344168"/>
            <a:ext cx="2468880" cy="201168"/>
          </a:xfrm>
          <a:prstGeom prst="rect">
            <a:avLst/>
          </a:prstGeom>
          <a:noFill/>
          <a:ln/>
        </p:spPr>
        <p:txBody>
          <a:bodyPr wrap="square" lIns="0" tIns="0" rIns="0" bIns="0" rtlCol="0" anchor="t"/>
          <a:lstStyle/>
          <a:p>
            <a:pPr indent="0" marL="0">
              <a:buNone/>
            </a:pPr>
            <a:r>
              <a:rPr lang="en-US" sz="1000" b="1" spc="100" kern="0" dirty="0">
                <a:solidFill>
                  <a:srgbClr val="118DFF"/>
                </a:solidFill>
                <a:latin typeface="Calibri" pitchFamily="34" charset="0"/>
                <a:ea typeface="Calibri" pitchFamily="34" charset="-122"/>
                <a:cs typeface="Calibri" pitchFamily="34" charset="-120"/>
              </a:rPr>
              <a:t>KEY LESSONS FOR MONITORING</a:t>
            </a:r>
            <a:endParaRPr lang="en-US" sz="1000" dirty="0"/>
          </a:p>
        </p:txBody>
      </p:sp>
      <p:sp>
        <p:nvSpPr>
          <p:cNvPr id="21" name="Shape 17"/>
          <p:cNvSpPr/>
          <p:nvPr/>
        </p:nvSpPr>
        <p:spPr>
          <a:xfrm>
            <a:off x="6080760" y="1627632"/>
            <a:ext cx="256032" cy="256032"/>
          </a:xfrm>
          <a:prstGeom prst="ellipse">
            <a:avLst/>
          </a:prstGeom>
          <a:solidFill>
            <a:srgbClr val="2E9E6B"/>
          </a:solidFill>
          <a:ln w="12700">
            <a:solidFill>
              <a:srgbClr val="2E9E6B"/>
            </a:solidFill>
            <a:prstDash val="solid"/>
          </a:ln>
        </p:spPr>
      </p:sp>
      <p:pic>
        <p:nvPicPr>
          <p:cNvPr id="22" name="Image 2" descr="preencoded.png">    </p:cNvPr>
          <p:cNvPicPr>
            <a:picLocks noChangeAspect="1"/>
          </p:cNvPicPr>
          <p:nvPr/>
        </p:nvPicPr>
        <p:blipFill>
          <a:blip r:embed="rId3"/>
          <a:stretch>
            <a:fillRect/>
          </a:stretch>
        </p:blipFill>
        <p:spPr>
          <a:xfrm>
            <a:off x="6144768" y="1691640"/>
            <a:ext cx="128016" cy="128016"/>
          </a:xfrm>
          <a:prstGeom prst="rect">
            <a:avLst/>
          </a:prstGeom>
        </p:spPr>
      </p:pic>
      <p:sp>
        <p:nvSpPr>
          <p:cNvPr id="23" name="Text 18"/>
          <p:cNvSpPr txBox="1"/>
          <p:nvPr/>
        </p:nvSpPr>
        <p:spPr>
          <a:xfrm>
            <a:off x="6446520" y="1600200"/>
            <a:ext cx="2148840" cy="34747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Track loan quality and delinquency</a:t>
            </a:r>
            <a:endParaRPr lang="en-US" sz="1050" dirty="0"/>
          </a:p>
        </p:txBody>
      </p:sp>
      <p:sp>
        <p:nvSpPr>
          <p:cNvPr id="24" name="Shape 19"/>
          <p:cNvSpPr/>
          <p:nvPr/>
        </p:nvSpPr>
        <p:spPr>
          <a:xfrm>
            <a:off x="6080760" y="2020824"/>
            <a:ext cx="256032" cy="256032"/>
          </a:xfrm>
          <a:prstGeom prst="ellipse">
            <a:avLst/>
          </a:prstGeom>
          <a:solidFill>
            <a:srgbClr val="2E9E6B"/>
          </a:solidFill>
          <a:ln w="12700">
            <a:solidFill>
              <a:srgbClr val="2E9E6B"/>
            </a:solidFill>
            <a:prstDash val="solid"/>
          </a:ln>
        </p:spPr>
      </p:sp>
      <p:pic>
        <p:nvPicPr>
          <p:cNvPr id="25" name="Image 3" descr="preencoded.png">    </p:cNvPr>
          <p:cNvPicPr>
            <a:picLocks noChangeAspect="1"/>
          </p:cNvPicPr>
          <p:nvPr/>
        </p:nvPicPr>
        <p:blipFill>
          <a:blip r:embed="rId4"/>
          <a:stretch>
            <a:fillRect/>
          </a:stretch>
        </p:blipFill>
        <p:spPr>
          <a:xfrm>
            <a:off x="6144768" y="2084832"/>
            <a:ext cx="128016" cy="128016"/>
          </a:xfrm>
          <a:prstGeom prst="rect">
            <a:avLst/>
          </a:prstGeom>
        </p:spPr>
      </p:pic>
      <p:sp>
        <p:nvSpPr>
          <p:cNvPr id="26" name="Text 20"/>
          <p:cNvSpPr txBox="1"/>
          <p:nvPr/>
        </p:nvSpPr>
        <p:spPr>
          <a:xfrm>
            <a:off x="6446520" y="1993392"/>
            <a:ext cx="2148840" cy="34747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Measure losses, recoveries and credit enhancement</a:t>
            </a:r>
            <a:endParaRPr lang="en-US" sz="1050" dirty="0"/>
          </a:p>
        </p:txBody>
      </p:sp>
      <p:sp>
        <p:nvSpPr>
          <p:cNvPr id="27" name="Shape 21"/>
          <p:cNvSpPr/>
          <p:nvPr/>
        </p:nvSpPr>
        <p:spPr>
          <a:xfrm>
            <a:off x="6080760" y="2414016"/>
            <a:ext cx="256032" cy="256032"/>
          </a:xfrm>
          <a:prstGeom prst="ellipse">
            <a:avLst/>
          </a:prstGeom>
          <a:solidFill>
            <a:srgbClr val="2E9E6B"/>
          </a:solidFill>
          <a:ln w="12700">
            <a:solidFill>
              <a:srgbClr val="2E9E6B"/>
            </a:solidFill>
            <a:prstDash val="solid"/>
          </a:ln>
        </p:spPr>
      </p:sp>
      <p:pic>
        <p:nvPicPr>
          <p:cNvPr id="28" name="Image 4" descr="preencoded.png">    </p:cNvPr>
          <p:cNvPicPr>
            <a:picLocks noChangeAspect="1"/>
          </p:cNvPicPr>
          <p:nvPr/>
        </p:nvPicPr>
        <p:blipFill>
          <a:blip r:embed="rId5"/>
          <a:stretch>
            <a:fillRect/>
          </a:stretch>
        </p:blipFill>
        <p:spPr>
          <a:xfrm>
            <a:off x="6144768" y="2478024"/>
            <a:ext cx="128016" cy="128016"/>
          </a:xfrm>
          <a:prstGeom prst="rect">
            <a:avLst/>
          </a:prstGeom>
        </p:spPr>
      </p:pic>
      <p:sp>
        <p:nvSpPr>
          <p:cNvPr id="29" name="Text 22"/>
          <p:cNvSpPr txBox="1"/>
          <p:nvPr/>
        </p:nvSpPr>
        <p:spPr>
          <a:xfrm>
            <a:off x="6446520" y="2386584"/>
            <a:ext cx="2148840" cy="34747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Stress-test under scenarios</a:t>
            </a:r>
            <a:endParaRPr lang="en-US" sz="1050" dirty="0"/>
          </a:p>
        </p:txBody>
      </p:sp>
      <p:sp>
        <p:nvSpPr>
          <p:cNvPr id="30" name="Shape 23"/>
          <p:cNvSpPr/>
          <p:nvPr/>
        </p:nvSpPr>
        <p:spPr>
          <a:xfrm>
            <a:off x="6080760" y="2807208"/>
            <a:ext cx="256032" cy="256032"/>
          </a:xfrm>
          <a:prstGeom prst="ellipse">
            <a:avLst/>
          </a:prstGeom>
          <a:solidFill>
            <a:srgbClr val="2E9E6B"/>
          </a:solidFill>
          <a:ln w="12700">
            <a:solidFill>
              <a:srgbClr val="2E9E6B"/>
            </a:solidFill>
            <a:prstDash val="solid"/>
          </a:ln>
        </p:spPr>
      </p:sp>
      <p:pic>
        <p:nvPicPr>
          <p:cNvPr id="31" name="Image 5" descr="preencoded.png">    </p:cNvPr>
          <p:cNvPicPr>
            <a:picLocks noChangeAspect="1"/>
          </p:cNvPicPr>
          <p:nvPr/>
        </p:nvPicPr>
        <p:blipFill>
          <a:blip r:embed="rId6"/>
          <a:stretch>
            <a:fillRect/>
          </a:stretch>
        </p:blipFill>
        <p:spPr>
          <a:xfrm>
            <a:off x="6144768" y="2871216"/>
            <a:ext cx="128016" cy="128016"/>
          </a:xfrm>
          <a:prstGeom prst="rect">
            <a:avLst/>
          </a:prstGeom>
        </p:spPr>
      </p:pic>
      <p:sp>
        <p:nvSpPr>
          <p:cNvPr id="32" name="Text 24"/>
          <p:cNvSpPr txBox="1"/>
          <p:nvPr/>
        </p:nvSpPr>
        <p:spPr>
          <a:xfrm>
            <a:off x="6446520" y="2779776"/>
            <a:ext cx="2148840" cy="347472"/>
          </a:xfrm>
          <a:prstGeom prst="rect">
            <a:avLst/>
          </a:prstGeom>
          <a:noFill/>
          <a:ln/>
        </p:spPr>
        <p:txBody>
          <a:bodyPr wrap="square" lIns="0" tIns="0" rIns="0" bIns="0" rtlCol="0" anchor="ctr"/>
          <a:lstStyle/>
          <a:p>
            <a:pPr indent="0" marL="0">
              <a:buNone/>
            </a:pPr>
            <a:r>
              <a:rPr lang="en-US" sz="1050" dirty="0">
                <a:solidFill>
                  <a:srgbClr val="0B1F3A"/>
                </a:solidFill>
                <a:latin typeface="Calibri" pitchFamily="34" charset="0"/>
                <a:ea typeface="Calibri" pitchFamily="34" charset="-122"/>
                <a:cs typeface="Calibri" pitchFamily="34" charset="-120"/>
              </a:rPr>
              <a:t>Timely, transparent reporting</a:t>
            </a:r>
            <a:endParaRPr lang="en-US" sz="1050" dirty="0"/>
          </a:p>
        </p:txBody>
      </p:sp>
      <p:sp>
        <p:nvSpPr>
          <p:cNvPr id="33" name="Shape 25"/>
          <p:cNvSpPr/>
          <p:nvPr/>
        </p:nvSpPr>
        <p:spPr>
          <a:xfrm>
            <a:off x="457200" y="3401568"/>
            <a:ext cx="8229600" cy="1261872"/>
          </a:xfrm>
          <a:prstGeom prst="roundRect">
            <a:avLst>
              <a:gd name="adj" fmla="val 5797"/>
            </a:avLst>
          </a:prstGeom>
          <a:solidFill>
            <a:srgbClr val="0B1F3A"/>
          </a:solidFill>
          <a:ln w="9525">
            <a:solidFill>
              <a:srgbClr val="0B1F3A"/>
            </a:solidFill>
            <a:prstDash val="solid"/>
          </a:ln>
          <a:effectLst>
            <a:outerShdw sx="100000" sy="100000" kx="0" ky="0" algn="bl" rotWithShape="0" blurRad="101600" dist="25400" dir="5400000">
              <a:srgbClr val="0B1F3A">
                <a:alpha val="10000"/>
              </a:srgbClr>
            </a:outerShdw>
          </a:effectLst>
        </p:spPr>
      </p:sp>
      <p:sp>
        <p:nvSpPr>
          <p:cNvPr id="34" name="Text 26"/>
          <p:cNvSpPr txBox="1"/>
          <p:nvPr/>
        </p:nvSpPr>
        <p:spPr>
          <a:xfrm>
            <a:off x="685800" y="3529584"/>
            <a:ext cx="2743200" cy="201168"/>
          </a:xfrm>
          <a:prstGeom prst="rect">
            <a:avLst/>
          </a:prstGeom>
          <a:noFill/>
          <a:ln/>
        </p:spPr>
        <p:txBody>
          <a:bodyPr wrap="square" lIns="0" tIns="0" rIns="0" bIns="0" rtlCol="0" anchor="t"/>
          <a:lstStyle/>
          <a:p>
            <a:pPr indent="0" marL="0">
              <a:buNone/>
            </a:pPr>
            <a:r>
              <a:rPr lang="en-US" sz="1000" b="1" spc="200" kern="0" dirty="0">
                <a:solidFill>
                  <a:srgbClr val="F2C811"/>
                </a:solidFill>
                <a:latin typeface="Calibri" pitchFamily="34" charset="0"/>
                <a:ea typeface="Calibri" pitchFamily="34" charset="-122"/>
                <a:cs typeface="Calibri" pitchFamily="34" charset="-120"/>
              </a:rPr>
              <a:t>CONCLUSION</a:t>
            </a:r>
            <a:endParaRPr lang="en-US" sz="1000" dirty="0"/>
          </a:p>
        </p:txBody>
      </p:sp>
      <p:sp>
        <p:nvSpPr>
          <p:cNvPr id="35" name="Text 27"/>
          <p:cNvSpPr txBox="1"/>
          <p:nvPr/>
        </p:nvSpPr>
        <p:spPr>
          <a:xfrm>
            <a:off x="685800" y="3785616"/>
            <a:ext cx="4754880" cy="7772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comprehensive Power BI solution covering portfolio performance, DPD and vintage analysis, IFRS 9 ECL, stress testing, waterfall analysis, investor reporting and a loan-level data tape — validated with Excel and DAX Studio.</a:t>
            </a:r>
            <a:endParaRPr lang="en-US" sz="1050" dirty="0"/>
          </a:p>
        </p:txBody>
      </p:sp>
      <p:sp>
        <p:nvSpPr>
          <p:cNvPr id="36" name="Shape 28"/>
          <p:cNvSpPr/>
          <p:nvPr/>
        </p:nvSpPr>
        <p:spPr>
          <a:xfrm>
            <a:off x="5623560" y="3566160"/>
            <a:ext cx="0" cy="1005840"/>
          </a:xfrm>
          <a:prstGeom prst="line">
            <a:avLst/>
          </a:prstGeom>
          <a:noFill/>
          <a:ln w="12700">
            <a:solidFill>
              <a:srgbClr val="3D5B85"/>
            </a:solidFill>
            <a:prstDash val="solid"/>
          </a:ln>
        </p:spPr>
      </p:sp>
      <p:sp>
        <p:nvSpPr>
          <p:cNvPr id="37" name="Text 29"/>
          <p:cNvSpPr txBox="1"/>
          <p:nvPr/>
        </p:nvSpPr>
        <p:spPr>
          <a:xfrm>
            <a:off x="5852160" y="3529584"/>
            <a:ext cx="2743200" cy="201168"/>
          </a:xfrm>
          <a:prstGeom prst="rect">
            <a:avLst/>
          </a:prstGeom>
          <a:noFill/>
          <a:ln/>
        </p:spPr>
        <p:txBody>
          <a:bodyPr wrap="square" lIns="0" tIns="0" rIns="0" bIns="0" rtlCol="0" anchor="t"/>
          <a:lstStyle/>
          <a:p>
            <a:pPr indent="0" marL="0">
              <a:buNone/>
            </a:pPr>
            <a:r>
              <a:rPr lang="en-US" sz="1000" b="1" spc="200" kern="0" dirty="0">
                <a:solidFill>
                  <a:srgbClr val="F2C811"/>
                </a:solidFill>
                <a:latin typeface="Calibri" pitchFamily="34" charset="0"/>
                <a:ea typeface="Calibri" pitchFamily="34" charset="-122"/>
                <a:cs typeface="Calibri" pitchFamily="34" charset="-120"/>
              </a:rPr>
              <a:t>FUTURE SCOPE &amp; TAKEAWAY</a:t>
            </a:r>
            <a:endParaRPr lang="en-US" sz="1000" dirty="0"/>
          </a:p>
        </p:txBody>
      </p:sp>
      <p:sp>
        <p:nvSpPr>
          <p:cNvPr id="38" name="Text 30"/>
          <p:cNvSpPr txBox="1"/>
          <p:nvPr/>
        </p:nvSpPr>
        <p:spPr>
          <a:xfrm>
            <a:off x="5852160" y="3767328"/>
            <a:ext cx="2697480" cy="82296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Next: complete full RLS filter-propagation validation.</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Validation, transparent reporting, security controls and performance optimisation are essential in financial analytics.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Auto-Loan Securitisation Portfolio Analysis</dc:title>
  <dc:subject>PptxGenJS Presentation</dc:subject>
  <dc:creator>Tiwari Kishlaynath Shailendrakumar</dc:creator>
  <cp:lastModifiedBy>Tiwari Kishlaynath Shailendrakumar</cp:lastModifiedBy>
  <cp:revision>1</cp:revision>
  <dcterms:created xsi:type="dcterms:W3CDTF">2026-09-29T11:16:14Z</dcterms:created>
  <dcterms:modified xsi:type="dcterms:W3CDTF">2026-09-29T11:16:14Z</dcterms:modified>
</cp:coreProperties>
</file>